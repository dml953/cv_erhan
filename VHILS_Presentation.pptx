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00D"/>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45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2286000"/>
          </a:xfrm>
          <a:prstGeom prst="rect">
            <a:avLst/>
          </a:prstGeom>
          <a:noFill/>
        </p:spPr>
        <p:txBody>
          <a:bodyPr wrap="square">
            <a:spAutoFit/>
          </a:bodyPr>
          <a:lstStyle/>
          <a:p>
            <a:pPr algn="ctr">
              <a:defRPr sz="12000" b="1" i="0">
                <a:solidFill>
                  <a:srgbClr val="D4CFC4"/>
                </a:solidFill>
                <a:latin typeface="Courier New"/>
              </a:defRPr>
            </a:pPr>
            <a:r>
              <a:t>VHILS</a:t>
            </a:r>
          </a:p>
        </p:txBody>
      </p:sp>
      <p:sp>
        <p:nvSpPr>
          <p:cNvPr id="4" name="TextBox 3"/>
          <p:cNvSpPr txBox="1"/>
          <p:nvPr/>
        </p:nvSpPr>
        <p:spPr>
          <a:xfrm>
            <a:off x="1828800" y="3840480"/>
            <a:ext cx="8229600" cy="731520"/>
          </a:xfrm>
          <a:prstGeom prst="rect">
            <a:avLst/>
          </a:prstGeom>
          <a:noFill/>
        </p:spPr>
        <p:txBody>
          <a:bodyPr wrap="square">
            <a:spAutoFit/>
          </a:bodyPr>
          <a:lstStyle/>
          <a:p>
            <a:pPr algn="ctr">
              <a:defRPr sz="2200" b="0" i="0">
                <a:solidFill>
                  <a:srgbClr val="8B4513"/>
                </a:solidFill>
                <a:latin typeface="Courier New"/>
              </a:defRPr>
            </a:pPr>
            <a:r>
              <a:t>——— L'ART DE LA DESTRUCTION ———</a:t>
            </a:r>
          </a:p>
        </p:txBody>
      </p:sp>
      <p:sp>
        <p:nvSpPr>
          <p:cNvPr id="5" name="TextBox 4"/>
          <p:cNvSpPr txBox="1"/>
          <p:nvPr/>
        </p:nvSpPr>
        <p:spPr>
          <a:xfrm>
            <a:off x="1828800" y="4846320"/>
            <a:ext cx="8229600" cy="548640"/>
          </a:xfrm>
          <a:prstGeom prst="rect">
            <a:avLst/>
          </a:prstGeom>
          <a:noFill/>
        </p:spPr>
        <p:txBody>
          <a:bodyPr wrap="square">
            <a:spAutoFit/>
          </a:bodyPr>
          <a:lstStyle/>
          <a:p>
            <a:pPr algn="ctr">
              <a:defRPr sz="1200" b="0" i="0">
                <a:solidFill>
                  <a:srgbClr val="A89F91"/>
                </a:solidFill>
                <a:latin typeface="Courier New"/>
              </a:defRPr>
            </a:pPr>
            <a:r>
              <a:t>ALEXANDRE FARTO  •  NÉ EN 1987  •  LISBONNE, PORTUGAL</a:t>
            </a:r>
          </a:p>
        </p:txBody>
      </p:sp>
      <p:sp>
        <p:nvSpPr>
          <p:cNvPr id="6" name="Rectangle 5"/>
          <p:cNvSpPr/>
          <p:nvPr/>
        </p:nvSpPr>
        <p:spPr>
          <a:xfrm>
            <a:off x="0" y="6784848"/>
            <a:ext cx="12191695" cy="73152"/>
          </a:xfrm>
          <a:prstGeom prst="rect">
            <a:avLst/>
          </a:prstGeom>
          <a:solidFill>
            <a:srgbClr val="8B45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1B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8B45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3657600" cy="457200"/>
          </a:xfrm>
          <a:prstGeom prst="rect">
            <a:avLst/>
          </a:prstGeom>
          <a:noFill/>
        </p:spPr>
        <p:txBody>
          <a:bodyPr wrap="square">
            <a:spAutoFit/>
          </a:bodyPr>
          <a:lstStyle/>
          <a:p>
            <a:pPr algn="l">
              <a:defRPr sz="1000" b="0" i="0">
                <a:solidFill>
                  <a:srgbClr val="8B4513"/>
                </a:solidFill>
                <a:latin typeface="Courier New"/>
              </a:defRPr>
            </a:pPr>
            <a:r>
              <a:t>L'ARTISTE</a:t>
            </a:r>
          </a:p>
        </p:txBody>
      </p:sp>
      <p:sp>
        <p:nvSpPr>
          <p:cNvPr id="4" name="TextBox 3"/>
          <p:cNvSpPr txBox="1"/>
          <p:nvPr/>
        </p:nvSpPr>
        <p:spPr>
          <a:xfrm>
            <a:off x="731520" y="822960"/>
            <a:ext cx="4572000" cy="1097280"/>
          </a:xfrm>
          <a:prstGeom prst="rect">
            <a:avLst/>
          </a:prstGeom>
          <a:noFill/>
        </p:spPr>
        <p:txBody>
          <a:bodyPr wrap="square">
            <a:spAutoFit/>
          </a:bodyPr>
          <a:lstStyle/>
          <a:p>
            <a:pPr algn="l">
              <a:defRPr sz="3200" b="1" i="0">
                <a:solidFill>
                  <a:srgbClr val="D4CFC4"/>
                </a:solidFill>
                <a:latin typeface="Courier New"/>
              </a:defRPr>
            </a:pPr>
            <a:r>
              <a:t>Alexandre</a:t>
            </a:r>
            <a:br/>
            <a:r>
              <a:t>Manuel</a:t>
            </a:r>
            <a:br/>
            <a:r>
              <a:t>Dias Farto</a:t>
            </a:r>
          </a:p>
        </p:txBody>
      </p:sp>
      <p:sp>
        <p:nvSpPr>
          <p:cNvPr id="5" name="TextBox 4"/>
          <p:cNvSpPr txBox="1"/>
          <p:nvPr/>
        </p:nvSpPr>
        <p:spPr>
          <a:xfrm>
            <a:off x="731520" y="2743200"/>
            <a:ext cx="3657600" cy="228600"/>
          </a:xfrm>
          <a:prstGeom prst="rect">
            <a:avLst/>
          </a:prstGeom>
          <a:noFill/>
        </p:spPr>
        <p:txBody>
          <a:bodyPr wrap="square">
            <a:spAutoFit/>
          </a:bodyPr>
          <a:lstStyle/>
          <a:p>
            <a:pPr algn="l">
              <a:defRPr sz="800" b="0" i="0">
                <a:solidFill>
                  <a:srgbClr val="8B4513"/>
                </a:solidFill>
                <a:latin typeface="Courier New"/>
              </a:defRPr>
            </a:pPr>
            <a:r>
              <a:t>NAISSANCE</a:t>
            </a:r>
          </a:p>
        </p:txBody>
      </p:sp>
      <p:sp>
        <p:nvSpPr>
          <p:cNvPr id="6" name="TextBox 5"/>
          <p:cNvSpPr txBox="1"/>
          <p:nvPr/>
        </p:nvSpPr>
        <p:spPr>
          <a:xfrm>
            <a:off x="731520" y="2971800"/>
            <a:ext cx="3657600" cy="320040"/>
          </a:xfrm>
          <a:prstGeom prst="rect">
            <a:avLst/>
          </a:prstGeom>
          <a:noFill/>
        </p:spPr>
        <p:txBody>
          <a:bodyPr wrap="square">
            <a:spAutoFit/>
          </a:bodyPr>
          <a:lstStyle/>
          <a:p>
            <a:pPr algn="l">
              <a:defRPr sz="1300" b="0" i="0">
                <a:solidFill>
                  <a:srgbClr val="D4CFC4"/>
                </a:solidFill>
                <a:latin typeface="Courier New"/>
              </a:defRPr>
            </a:pPr>
            <a:r>
              <a:t>1987, Seixal, Portugal</a:t>
            </a:r>
          </a:p>
        </p:txBody>
      </p:sp>
      <p:sp>
        <p:nvSpPr>
          <p:cNvPr id="7" name="TextBox 6"/>
          <p:cNvSpPr txBox="1"/>
          <p:nvPr/>
        </p:nvSpPr>
        <p:spPr>
          <a:xfrm>
            <a:off x="731520" y="3429000"/>
            <a:ext cx="3657600" cy="228600"/>
          </a:xfrm>
          <a:prstGeom prst="rect">
            <a:avLst/>
          </a:prstGeom>
          <a:noFill/>
        </p:spPr>
        <p:txBody>
          <a:bodyPr wrap="square">
            <a:spAutoFit/>
          </a:bodyPr>
          <a:lstStyle/>
          <a:p>
            <a:pPr algn="l">
              <a:defRPr sz="800" b="0" i="0">
                <a:solidFill>
                  <a:srgbClr val="8B4513"/>
                </a:solidFill>
                <a:latin typeface="Courier New"/>
              </a:defRPr>
            </a:pPr>
            <a:r>
              <a:t>PSEUDONYME</a:t>
            </a:r>
          </a:p>
        </p:txBody>
      </p:sp>
      <p:sp>
        <p:nvSpPr>
          <p:cNvPr id="8" name="TextBox 7"/>
          <p:cNvSpPr txBox="1"/>
          <p:nvPr/>
        </p:nvSpPr>
        <p:spPr>
          <a:xfrm>
            <a:off x="731520" y="3657600"/>
            <a:ext cx="3657600" cy="320040"/>
          </a:xfrm>
          <a:prstGeom prst="rect">
            <a:avLst/>
          </a:prstGeom>
          <a:noFill/>
        </p:spPr>
        <p:txBody>
          <a:bodyPr wrap="square">
            <a:spAutoFit/>
          </a:bodyPr>
          <a:lstStyle/>
          <a:p>
            <a:pPr algn="l">
              <a:defRPr sz="1300" b="0" i="0">
                <a:solidFill>
                  <a:srgbClr val="D4CFC4"/>
                </a:solidFill>
                <a:latin typeface="Courier New"/>
              </a:defRPr>
            </a:pPr>
            <a:r>
              <a:t>VHILS</a:t>
            </a:r>
          </a:p>
        </p:txBody>
      </p:sp>
      <p:sp>
        <p:nvSpPr>
          <p:cNvPr id="9" name="TextBox 8"/>
          <p:cNvSpPr txBox="1"/>
          <p:nvPr/>
        </p:nvSpPr>
        <p:spPr>
          <a:xfrm>
            <a:off x="731520" y="4114800"/>
            <a:ext cx="3657600" cy="228600"/>
          </a:xfrm>
          <a:prstGeom prst="rect">
            <a:avLst/>
          </a:prstGeom>
          <a:noFill/>
        </p:spPr>
        <p:txBody>
          <a:bodyPr wrap="square">
            <a:spAutoFit/>
          </a:bodyPr>
          <a:lstStyle/>
          <a:p>
            <a:pPr algn="l">
              <a:defRPr sz="800" b="0" i="0">
                <a:solidFill>
                  <a:srgbClr val="8B4513"/>
                </a:solidFill>
                <a:latin typeface="Courier New"/>
              </a:defRPr>
            </a:pPr>
            <a:r>
              <a:t>FORMATION</a:t>
            </a:r>
          </a:p>
        </p:txBody>
      </p:sp>
      <p:sp>
        <p:nvSpPr>
          <p:cNvPr id="10" name="TextBox 9"/>
          <p:cNvSpPr txBox="1"/>
          <p:nvPr/>
        </p:nvSpPr>
        <p:spPr>
          <a:xfrm>
            <a:off x="731520" y="4343400"/>
            <a:ext cx="3657600" cy="320040"/>
          </a:xfrm>
          <a:prstGeom prst="rect">
            <a:avLst/>
          </a:prstGeom>
          <a:noFill/>
        </p:spPr>
        <p:txBody>
          <a:bodyPr wrap="square">
            <a:spAutoFit/>
          </a:bodyPr>
          <a:lstStyle/>
          <a:p>
            <a:pPr algn="l">
              <a:defRPr sz="1300" b="0" i="0">
                <a:solidFill>
                  <a:srgbClr val="D4CFC4"/>
                </a:solidFill>
                <a:latin typeface="Courier New"/>
              </a:defRPr>
            </a:pPr>
            <a:r>
              <a:t>University of the Arts London</a:t>
            </a:r>
          </a:p>
        </p:txBody>
      </p:sp>
      <p:sp>
        <p:nvSpPr>
          <p:cNvPr id="11" name="TextBox 10"/>
          <p:cNvSpPr txBox="1"/>
          <p:nvPr/>
        </p:nvSpPr>
        <p:spPr>
          <a:xfrm>
            <a:off x="731520" y="4800600"/>
            <a:ext cx="3657600" cy="228600"/>
          </a:xfrm>
          <a:prstGeom prst="rect">
            <a:avLst/>
          </a:prstGeom>
          <a:noFill/>
        </p:spPr>
        <p:txBody>
          <a:bodyPr wrap="square">
            <a:spAutoFit/>
          </a:bodyPr>
          <a:lstStyle/>
          <a:p>
            <a:pPr algn="l">
              <a:defRPr sz="800" b="0" i="0">
                <a:solidFill>
                  <a:srgbClr val="8B4513"/>
                </a:solidFill>
                <a:latin typeface="Courier New"/>
              </a:defRPr>
            </a:pPr>
            <a:r>
              <a:t>DISCIPLINE</a:t>
            </a:r>
          </a:p>
        </p:txBody>
      </p:sp>
      <p:sp>
        <p:nvSpPr>
          <p:cNvPr id="12" name="TextBox 11"/>
          <p:cNvSpPr txBox="1"/>
          <p:nvPr/>
        </p:nvSpPr>
        <p:spPr>
          <a:xfrm>
            <a:off x="731520" y="5029200"/>
            <a:ext cx="3657600" cy="320040"/>
          </a:xfrm>
          <a:prstGeom prst="rect">
            <a:avLst/>
          </a:prstGeom>
          <a:noFill/>
        </p:spPr>
        <p:txBody>
          <a:bodyPr wrap="square">
            <a:spAutoFit/>
          </a:bodyPr>
          <a:lstStyle/>
          <a:p>
            <a:pPr algn="l">
              <a:defRPr sz="1300" b="0" i="0">
                <a:solidFill>
                  <a:srgbClr val="D4CFC4"/>
                </a:solidFill>
                <a:latin typeface="Courier New"/>
              </a:defRPr>
            </a:pPr>
            <a:r>
              <a:t>Street Art / Art Urbain</a:t>
            </a:r>
          </a:p>
        </p:txBody>
      </p:sp>
      <p:sp>
        <p:nvSpPr>
          <p:cNvPr id="13" name="TextBox 12"/>
          <p:cNvSpPr txBox="1"/>
          <p:nvPr/>
        </p:nvSpPr>
        <p:spPr>
          <a:xfrm>
            <a:off x="731520" y="5486400"/>
            <a:ext cx="3657600" cy="228600"/>
          </a:xfrm>
          <a:prstGeom prst="rect">
            <a:avLst/>
          </a:prstGeom>
          <a:noFill/>
        </p:spPr>
        <p:txBody>
          <a:bodyPr wrap="square">
            <a:spAutoFit/>
          </a:bodyPr>
          <a:lstStyle/>
          <a:p>
            <a:pPr algn="l">
              <a:defRPr sz="800" b="0" i="0">
                <a:solidFill>
                  <a:srgbClr val="8B4513"/>
                </a:solidFill>
                <a:latin typeface="Courier New"/>
              </a:defRPr>
            </a:pPr>
            <a:r>
              <a:t>MOUVEMENT</a:t>
            </a:r>
          </a:p>
        </p:txBody>
      </p:sp>
      <p:sp>
        <p:nvSpPr>
          <p:cNvPr id="14" name="TextBox 13"/>
          <p:cNvSpPr txBox="1"/>
          <p:nvPr/>
        </p:nvSpPr>
        <p:spPr>
          <a:xfrm>
            <a:off x="731520" y="5715000"/>
            <a:ext cx="3657600" cy="320040"/>
          </a:xfrm>
          <a:prstGeom prst="rect">
            <a:avLst/>
          </a:prstGeom>
          <a:noFill/>
        </p:spPr>
        <p:txBody>
          <a:bodyPr wrap="square">
            <a:spAutoFit/>
          </a:bodyPr>
          <a:lstStyle/>
          <a:p>
            <a:pPr algn="l">
              <a:defRPr sz="1300" b="0" i="0">
                <a:solidFill>
                  <a:srgbClr val="D4CFC4"/>
                </a:solidFill>
                <a:latin typeface="Courier New"/>
              </a:defRPr>
            </a:pPr>
            <a:r>
              <a:t>Art Contemporain Destructif</a:t>
            </a:r>
          </a:p>
        </p:txBody>
      </p:sp>
      <p:sp>
        <p:nvSpPr>
          <p:cNvPr id="15" name="Rectangle 14"/>
          <p:cNvSpPr/>
          <p:nvPr/>
        </p:nvSpPr>
        <p:spPr>
          <a:xfrm>
            <a:off x="5029200" y="457200"/>
            <a:ext cx="12700" cy="5943600"/>
          </a:xfrm>
          <a:prstGeom prst="rect">
            <a:avLst/>
          </a:prstGeom>
          <a:solidFill>
            <a:srgbClr val="3D3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0" y="731520"/>
            <a:ext cx="5943600" cy="5486400"/>
          </a:xfrm>
          <a:prstGeom prst="rect">
            <a:avLst/>
          </a:prstGeom>
          <a:noFill/>
        </p:spPr>
        <p:txBody>
          <a:bodyPr wrap="square">
            <a:spAutoFit/>
          </a:bodyPr>
          <a:lstStyle/>
          <a:p>
            <a:pPr algn="l">
              <a:defRPr sz="1400" b="0" i="0">
                <a:solidFill>
                  <a:srgbClr val="A89F91"/>
                </a:solidFill>
                <a:latin typeface="Courier New"/>
              </a:defRPr>
            </a:pPr>
          </a:p>
          <a:p>
            <a:pPr algn="l">
              <a:spcBef>
                <a:spcPts val="400"/>
              </a:spcBef>
              <a:spcAft>
                <a:spcPts val="400"/>
              </a:spcAft>
              <a:defRPr sz="1300" b="0" i="0">
                <a:solidFill>
                  <a:srgbClr val="A89F91"/>
                </a:solidFill>
                <a:latin typeface="Courier New"/>
              </a:defRPr>
            </a:pPr>
            <a:r>
              <a:t>Alexandre Farto, connu sous le nom de VHILS, est un artiste visuel portugais qui a révolutionné le street art en développant une technique unique de soustraction plutôt que d'addition.</a:t>
            </a:r>
          </a:p>
          <a:p>
            <a:pPr algn="l">
              <a:spcBef>
                <a:spcPts val="400"/>
              </a:spcBef>
              <a:spcAft>
                <a:spcPts val="400"/>
              </a:spcAft>
              <a:defRPr sz="1300" b="0" i="0">
                <a:solidFill>
                  <a:srgbClr val="A89F91"/>
                </a:solidFill>
                <a:latin typeface="Courier New"/>
              </a:defRPr>
            </a:pPr>
          </a:p>
          <a:p>
            <a:pPr algn="l">
              <a:spcBef>
                <a:spcPts val="400"/>
              </a:spcBef>
              <a:spcAft>
                <a:spcPts val="400"/>
              </a:spcAft>
              <a:defRPr sz="1300" b="0" i="0">
                <a:solidFill>
                  <a:srgbClr val="A89F91"/>
                </a:solidFill>
                <a:latin typeface="Courier New"/>
              </a:defRPr>
            </a:pPr>
            <a:r>
              <a:t>Grandissant dans la banlieue industrielle de Lisbonne après la Révolution des Œillets, il est fasciné par les murs décrépits et les couches d'affiches qui racontent l'histoire urbaine.</a:t>
            </a:r>
          </a:p>
          <a:p>
            <a:pPr algn="l">
              <a:spcBef>
                <a:spcPts val="400"/>
              </a:spcBef>
              <a:spcAft>
                <a:spcPts val="400"/>
              </a:spcAft>
              <a:defRPr sz="1300" b="0" i="0">
                <a:solidFill>
                  <a:srgbClr val="A89F91"/>
                </a:solidFill>
                <a:latin typeface="Courier New"/>
              </a:defRPr>
            </a:pPr>
          </a:p>
          <a:p>
            <a:pPr algn="l">
              <a:spcBef>
                <a:spcPts val="400"/>
              </a:spcBef>
              <a:spcAft>
                <a:spcPts val="400"/>
              </a:spcAft>
              <a:defRPr sz="1300" b="0" i="0">
                <a:solidFill>
                  <a:srgbClr val="A89F91"/>
                </a:solidFill>
                <a:latin typeface="Courier New"/>
              </a:defRPr>
            </a:pPr>
            <a:r>
              <a:t>Dès 13 ans, il commence le graffiti avant de développer sa propre voie artistique radicalement différente.</a:t>
            </a:r>
          </a:p>
          <a:p>
            <a:pPr algn="l">
              <a:spcBef>
                <a:spcPts val="400"/>
              </a:spcBef>
              <a:spcAft>
                <a:spcPts val="400"/>
              </a:spcAft>
              <a:defRPr sz="1300" b="0" i="0">
                <a:solidFill>
                  <a:srgbClr val="A89F91"/>
                </a:solidFill>
                <a:latin typeface="Courier New"/>
              </a:defRPr>
            </a:pPr>
          </a:p>
          <a:p>
            <a:pPr algn="l">
              <a:spcBef>
                <a:spcPts val="400"/>
              </a:spcBef>
              <a:spcAft>
                <a:spcPts val="400"/>
              </a:spcAft>
              <a:defRPr sz="1300" b="0" i="0">
                <a:solidFill>
                  <a:srgbClr val="A89F91"/>
                </a:solidFill>
                <a:latin typeface="Courier New"/>
              </a:defRPr>
            </a:pPr>
            <a:r>
              <a:t>En 2008, une de ses œuvres est exposée à côté d'une pièce de Banksy lors du Cans Festival à Londres, propulsant sa carrière internationale.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908"/>
        </a:solidFill>
        <a:effectLst/>
      </p:bgPr>
    </p:bg>
    <p:spTree>
      <p:nvGrpSpPr>
        <p:cNvPr id="1" name=""/>
        <p:cNvGrpSpPr/>
        <p:nvPr/>
      </p:nvGrpSpPr>
      <p:grpSpPr/>
      <p:sp>
        <p:nvSpPr>
          <p:cNvPr id="2" name="TextBox 1"/>
          <p:cNvSpPr txBox="1"/>
          <p:nvPr/>
        </p:nvSpPr>
        <p:spPr>
          <a:xfrm>
            <a:off x="731520" y="457200"/>
            <a:ext cx="7315200" cy="914400"/>
          </a:xfrm>
          <a:prstGeom prst="rect">
            <a:avLst/>
          </a:prstGeom>
          <a:noFill/>
        </p:spPr>
        <p:txBody>
          <a:bodyPr wrap="square">
            <a:spAutoFit/>
          </a:bodyPr>
          <a:lstStyle/>
          <a:p>
            <a:pPr algn="l">
              <a:defRPr sz="4000" b="1" i="0">
                <a:solidFill>
                  <a:srgbClr val="D4CFC4"/>
                </a:solidFill>
                <a:latin typeface="Courier New"/>
              </a:defRPr>
            </a:pPr>
            <a:r>
              <a:t>PROCESSUS CRÉATIF</a:t>
            </a:r>
          </a:p>
        </p:txBody>
      </p:sp>
      <p:sp>
        <p:nvSpPr>
          <p:cNvPr id="3" name="Rectangle 2"/>
          <p:cNvSpPr/>
          <p:nvPr/>
        </p:nvSpPr>
        <p:spPr>
          <a:xfrm>
            <a:off x="731520" y="1280160"/>
            <a:ext cx="1371600" cy="50800"/>
          </a:xfrm>
          <a:prstGeom prst="rect">
            <a:avLst/>
          </a:prstGeom>
          <a:solidFill>
            <a:srgbClr val="8B45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011680"/>
            <a:ext cx="3474720" cy="4389120"/>
          </a:xfrm>
          <a:prstGeom prst="rect">
            <a:avLst/>
          </a:prstGeom>
          <a:solidFill>
            <a:srgbClr val="1E1B17"/>
          </a:solidFill>
          <a:ln w="12700">
            <a:solidFill>
              <a:srgbClr val="3D34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2926080" cy="457200"/>
          </a:xfrm>
          <a:prstGeom prst="rect">
            <a:avLst/>
          </a:prstGeom>
          <a:noFill/>
        </p:spPr>
        <p:txBody>
          <a:bodyPr wrap="square">
            <a:spAutoFit/>
          </a:bodyPr>
          <a:lstStyle/>
          <a:p>
            <a:pPr algn="l">
              <a:defRPr sz="4800" b="1" i="0">
                <a:solidFill>
                  <a:srgbClr val="2A2520"/>
                </a:solidFill>
                <a:latin typeface="Courier New"/>
              </a:defRPr>
            </a:pPr>
            <a:r>
              <a:t>01</a:t>
            </a:r>
          </a:p>
        </p:txBody>
      </p:sp>
      <p:sp>
        <p:nvSpPr>
          <p:cNvPr id="6" name="TextBox 5"/>
          <p:cNvSpPr txBox="1"/>
          <p:nvPr/>
        </p:nvSpPr>
        <p:spPr>
          <a:xfrm>
            <a:off x="731520" y="3017520"/>
            <a:ext cx="2926080" cy="548640"/>
          </a:xfrm>
          <a:prstGeom prst="rect">
            <a:avLst/>
          </a:prstGeom>
          <a:noFill/>
        </p:spPr>
        <p:txBody>
          <a:bodyPr wrap="square">
            <a:spAutoFit/>
          </a:bodyPr>
          <a:lstStyle/>
          <a:p>
            <a:pPr algn="l">
              <a:defRPr sz="1100" b="1" i="0">
                <a:solidFill>
                  <a:srgbClr val="8B4513"/>
                </a:solidFill>
                <a:latin typeface="Courier New"/>
              </a:defRPr>
            </a:pPr>
            <a:r>
              <a:t>⚒  GRAVURE MURALE</a:t>
            </a:r>
          </a:p>
        </p:txBody>
      </p:sp>
      <p:sp>
        <p:nvSpPr>
          <p:cNvPr id="7" name="TextBox 6"/>
          <p:cNvSpPr txBox="1"/>
          <p:nvPr/>
        </p:nvSpPr>
        <p:spPr>
          <a:xfrm>
            <a:off x="731520" y="3657600"/>
            <a:ext cx="2926080" cy="2560320"/>
          </a:xfrm>
          <a:prstGeom prst="rect">
            <a:avLst/>
          </a:prstGeom>
          <a:noFill/>
        </p:spPr>
        <p:txBody>
          <a:bodyPr wrap="square">
            <a:spAutoFit/>
          </a:bodyPr>
          <a:lstStyle/>
          <a:p>
            <a:pPr algn="l">
              <a:defRPr sz="1100" b="0" i="0">
                <a:solidFill>
                  <a:srgbClr val="A89F91"/>
                </a:solidFill>
                <a:latin typeface="Courier New"/>
              </a:defRPr>
            </a:pPr>
            <a:r>
              <a:t>À l'aide de burins et de marteaux, VHILS creuse directement dans les murs, retirant couche après couche d'enduit, de plâtre et de peinture pour révéler des portraits monumentaux.</a:t>
            </a:r>
          </a:p>
        </p:txBody>
      </p:sp>
      <p:sp>
        <p:nvSpPr>
          <p:cNvPr id="8" name="Rectangle 7"/>
          <p:cNvSpPr/>
          <p:nvPr/>
        </p:nvSpPr>
        <p:spPr>
          <a:xfrm>
            <a:off x="4114800" y="2011680"/>
            <a:ext cx="3474720" cy="4389120"/>
          </a:xfrm>
          <a:prstGeom prst="rect">
            <a:avLst/>
          </a:prstGeom>
          <a:solidFill>
            <a:srgbClr val="1E1B17"/>
          </a:solidFill>
          <a:ln w="12700">
            <a:solidFill>
              <a:srgbClr val="3D34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2286000"/>
            <a:ext cx="2926080" cy="457200"/>
          </a:xfrm>
          <a:prstGeom prst="rect">
            <a:avLst/>
          </a:prstGeom>
          <a:noFill/>
        </p:spPr>
        <p:txBody>
          <a:bodyPr wrap="square">
            <a:spAutoFit/>
          </a:bodyPr>
          <a:lstStyle/>
          <a:p>
            <a:pPr algn="l">
              <a:defRPr sz="4800" b="1" i="0">
                <a:solidFill>
                  <a:srgbClr val="2A2520"/>
                </a:solidFill>
                <a:latin typeface="Courier New"/>
              </a:defRPr>
            </a:pPr>
            <a:r>
              <a:t>02</a:t>
            </a:r>
          </a:p>
        </p:txBody>
      </p:sp>
      <p:sp>
        <p:nvSpPr>
          <p:cNvPr id="10" name="TextBox 9"/>
          <p:cNvSpPr txBox="1"/>
          <p:nvPr/>
        </p:nvSpPr>
        <p:spPr>
          <a:xfrm>
            <a:off x="4389120" y="3017520"/>
            <a:ext cx="2926080" cy="548640"/>
          </a:xfrm>
          <a:prstGeom prst="rect">
            <a:avLst/>
          </a:prstGeom>
          <a:noFill/>
        </p:spPr>
        <p:txBody>
          <a:bodyPr wrap="square">
            <a:spAutoFit/>
          </a:bodyPr>
          <a:lstStyle/>
          <a:p>
            <a:pPr algn="l">
              <a:defRPr sz="1100" b="1" i="0">
                <a:solidFill>
                  <a:srgbClr val="8B4513"/>
                </a:solidFill>
                <a:latin typeface="Courier New"/>
              </a:defRPr>
            </a:pPr>
            <a:r>
              <a:t>💥  EXPLOSIFS</a:t>
            </a:r>
          </a:p>
        </p:txBody>
      </p:sp>
      <p:sp>
        <p:nvSpPr>
          <p:cNvPr id="11" name="TextBox 10"/>
          <p:cNvSpPr txBox="1"/>
          <p:nvPr/>
        </p:nvSpPr>
        <p:spPr>
          <a:xfrm>
            <a:off x="4389120" y="3657600"/>
            <a:ext cx="2926080" cy="2560320"/>
          </a:xfrm>
          <a:prstGeom prst="rect">
            <a:avLst/>
          </a:prstGeom>
          <a:noFill/>
        </p:spPr>
        <p:txBody>
          <a:bodyPr wrap="square">
            <a:spAutoFit/>
          </a:bodyPr>
          <a:lstStyle/>
          <a:p>
            <a:pPr algn="l">
              <a:defRPr sz="1100" b="0" i="0">
                <a:solidFill>
                  <a:srgbClr val="A89F91"/>
                </a:solidFill>
                <a:latin typeface="Courier New"/>
              </a:defRPr>
            </a:pPr>
            <a:r>
              <a:t>Pour certaines œuvres à grande échelle, il utilise des micro-charges explosives contrôlées qui détachent la surface du mur selon un motif prédéfini, créant des portraits en quelques secondes.</a:t>
            </a:r>
          </a:p>
        </p:txBody>
      </p:sp>
      <p:sp>
        <p:nvSpPr>
          <p:cNvPr id="12" name="Rectangle 11"/>
          <p:cNvSpPr/>
          <p:nvPr/>
        </p:nvSpPr>
        <p:spPr>
          <a:xfrm>
            <a:off x="7955279" y="2011680"/>
            <a:ext cx="3474720" cy="4389120"/>
          </a:xfrm>
          <a:prstGeom prst="rect">
            <a:avLst/>
          </a:prstGeom>
          <a:solidFill>
            <a:srgbClr val="1E1B17"/>
          </a:solidFill>
          <a:ln w="12700">
            <a:solidFill>
              <a:srgbClr val="3D34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2286000"/>
            <a:ext cx="2926080" cy="457200"/>
          </a:xfrm>
          <a:prstGeom prst="rect">
            <a:avLst/>
          </a:prstGeom>
          <a:noFill/>
        </p:spPr>
        <p:txBody>
          <a:bodyPr wrap="square">
            <a:spAutoFit/>
          </a:bodyPr>
          <a:lstStyle/>
          <a:p>
            <a:pPr algn="l">
              <a:defRPr sz="4800" b="1" i="0">
                <a:solidFill>
                  <a:srgbClr val="2A2520"/>
                </a:solidFill>
                <a:latin typeface="Courier New"/>
              </a:defRPr>
            </a:pPr>
            <a:r>
              <a:t>03</a:t>
            </a:r>
          </a:p>
        </p:txBody>
      </p:sp>
      <p:sp>
        <p:nvSpPr>
          <p:cNvPr id="14" name="TextBox 13"/>
          <p:cNvSpPr txBox="1"/>
          <p:nvPr/>
        </p:nvSpPr>
        <p:spPr>
          <a:xfrm>
            <a:off x="8229600" y="3017520"/>
            <a:ext cx="2926080" cy="548640"/>
          </a:xfrm>
          <a:prstGeom prst="rect">
            <a:avLst/>
          </a:prstGeom>
          <a:noFill/>
        </p:spPr>
        <p:txBody>
          <a:bodyPr wrap="square">
            <a:spAutoFit/>
          </a:bodyPr>
          <a:lstStyle/>
          <a:p>
            <a:pPr algn="l">
              <a:defRPr sz="1100" b="1" i="0">
                <a:solidFill>
                  <a:srgbClr val="8B4513"/>
                </a:solidFill>
                <a:latin typeface="Courier New"/>
              </a:defRPr>
            </a:pPr>
            <a:r>
              <a:t>⚡  ACIDE &amp; EAU DE JAVEL</a:t>
            </a:r>
          </a:p>
        </p:txBody>
      </p:sp>
      <p:sp>
        <p:nvSpPr>
          <p:cNvPr id="15" name="TextBox 14"/>
          <p:cNvSpPr txBox="1"/>
          <p:nvPr/>
        </p:nvSpPr>
        <p:spPr>
          <a:xfrm>
            <a:off x="8229600" y="3657600"/>
            <a:ext cx="2926080" cy="2560320"/>
          </a:xfrm>
          <a:prstGeom prst="rect">
            <a:avLst/>
          </a:prstGeom>
          <a:noFill/>
        </p:spPr>
        <p:txBody>
          <a:bodyPr wrap="square">
            <a:spAutoFit/>
          </a:bodyPr>
          <a:lstStyle/>
          <a:p>
            <a:pPr algn="l">
              <a:defRPr sz="1100" b="0" i="0">
                <a:solidFill>
                  <a:srgbClr val="A89F91"/>
                </a:solidFill>
                <a:latin typeface="Courier New"/>
              </a:defRPr>
            </a:pPr>
            <a:r>
              <a:t>Sur des surfaces métalliques ou des panneaux publicitaires, il applique des agents chimiques qui rongent sélectivement la matière, créant des dégradés subtils et des textures organiques.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20F"/>
        </a:solidFill>
        <a:effectLst/>
      </p:bgPr>
    </p:bg>
    <p:spTree>
      <p:nvGrpSpPr>
        <p:cNvPr id="1" name=""/>
        <p:cNvGrpSpPr/>
        <p:nvPr/>
      </p:nvGrpSpPr>
      <p:grpSpPr/>
      <p:sp>
        <p:nvSpPr>
          <p:cNvPr id="2" name="TextBox 1"/>
          <p:cNvSpPr txBox="1"/>
          <p:nvPr/>
        </p:nvSpPr>
        <p:spPr>
          <a:xfrm>
            <a:off x="731520" y="365760"/>
            <a:ext cx="7315200" cy="914400"/>
          </a:xfrm>
          <a:prstGeom prst="rect">
            <a:avLst/>
          </a:prstGeom>
          <a:noFill/>
        </p:spPr>
        <p:txBody>
          <a:bodyPr wrap="square">
            <a:spAutoFit/>
          </a:bodyPr>
          <a:lstStyle/>
          <a:p>
            <a:pPr algn="l">
              <a:defRPr sz="3800" b="1" i="0">
                <a:solidFill>
                  <a:srgbClr val="D4CFC4"/>
                </a:solidFill>
                <a:latin typeface="Courier New"/>
              </a:defRPr>
            </a:pPr>
            <a:r>
              <a:t>ŒUVRES MAJEURES</a:t>
            </a:r>
          </a:p>
        </p:txBody>
      </p:sp>
      <p:sp>
        <p:nvSpPr>
          <p:cNvPr id="3" name="Rectangle 2"/>
          <p:cNvSpPr/>
          <p:nvPr/>
        </p:nvSpPr>
        <p:spPr>
          <a:xfrm>
            <a:off x="731520" y="1143000"/>
            <a:ext cx="1371600" cy="50800"/>
          </a:xfrm>
          <a:prstGeom prst="rect">
            <a:avLst/>
          </a:prstGeom>
          <a:solidFill>
            <a:srgbClr val="8B45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645920"/>
            <a:ext cx="38100" cy="1097280"/>
          </a:xfrm>
          <a:prstGeom prst="rect">
            <a:avLst/>
          </a:prstGeom>
          <a:solidFill>
            <a:srgbClr val="8B45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1097280" cy="365760"/>
          </a:xfrm>
          <a:prstGeom prst="rect">
            <a:avLst/>
          </a:prstGeom>
          <a:noFill/>
        </p:spPr>
        <p:txBody>
          <a:bodyPr wrap="square">
            <a:spAutoFit/>
          </a:bodyPr>
          <a:lstStyle/>
          <a:p>
            <a:pPr algn="l">
              <a:defRPr sz="1000" b="0" i="0">
                <a:solidFill>
                  <a:srgbClr val="8B4513"/>
                </a:solidFill>
                <a:latin typeface="Courier New"/>
              </a:defRPr>
            </a:pPr>
            <a:r>
              <a:t>2008</a:t>
            </a:r>
          </a:p>
        </p:txBody>
      </p:sp>
      <p:sp>
        <p:nvSpPr>
          <p:cNvPr id="6" name="TextBox 5"/>
          <p:cNvSpPr txBox="1"/>
          <p:nvPr/>
        </p:nvSpPr>
        <p:spPr>
          <a:xfrm>
            <a:off x="2286000" y="1600200"/>
            <a:ext cx="4572000" cy="411480"/>
          </a:xfrm>
          <a:prstGeom prst="rect">
            <a:avLst/>
          </a:prstGeom>
          <a:noFill/>
        </p:spPr>
        <p:txBody>
          <a:bodyPr wrap="square">
            <a:spAutoFit/>
          </a:bodyPr>
          <a:lstStyle/>
          <a:p>
            <a:pPr algn="l">
              <a:defRPr sz="1400" b="1" i="0">
                <a:solidFill>
                  <a:srgbClr val="D4CFC4"/>
                </a:solidFill>
                <a:latin typeface="Courier New"/>
              </a:defRPr>
            </a:pPr>
            <a:r>
              <a:t>SCRATCHING THE SURFACE</a:t>
            </a:r>
          </a:p>
        </p:txBody>
      </p:sp>
      <p:sp>
        <p:nvSpPr>
          <p:cNvPr id="7" name="TextBox 6"/>
          <p:cNvSpPr txBox="1"/>
          <p:nvPr/>
        </p:nvSpPr>
        <p:spPr>
          <a:xfrm>
            <a:off x="2286000" y="2011680"/>
            <a:ext cx="5486400" cy="640080"/>
          </a:xfrm>
          <a:prstGeom prst="rect">
            <a:avLst/>
          </a:prstGeom>
          <a:noFill/>
        </p:spPr>
        <p:txBody>
          <a:bodyPr wrap="square">
            <a:spAutoFit/>
          </a:bodyPr>
          <a:lstStyle/>
          <a:p>
            <a:pPr algn="l">
              <a:defRPr sz="1100" b="0" i="0">
                <a:solidFill>
                  <a:srgbClr val="A89F91"/>
                </a:solidFill>
                <a:latin typeface="Courier New"/>
              </a:defRPr>
            </a:pPr>
            <a:r>
              <a:t>Série fondatrice où VHILS grave des portraits dans les murs de Lisbonne, révélant les strates historiques de la ville.</a:t>
            </a:r>
          </a:p>
        </p:txBody>
      </p:sp>
      <p:sp>
        <p:nvSpPr>
          <p:cNvPr id="8" name="TextBox 7"/>
          <p:cNvSpPr txBox="1"/>
          <p:nvPr/>
        </p:nvSpPr>
        <p:spPr>
          <a:xfrm>
            <a:off x="8686800" y="1783080"/>
            <a:ext cx="3200400" cy="365760"/>
          </a:xfrm>
          <a:prstGeom prst="rect">
            <a:avLst/>
          </a:prstGeom>
          <a:noFill/>
        </p:spPr>
        <p:txBody>
          <a:bodyPr wrap="square">
            <a:spAutoFit/>
          </a:bodyPr>
          <a:lstStyle/>
          <a:p>
            <a:pPr algn="l">
              <a:defRPr sz="900" b="0" i="0">
                <a:solidFill>
                  <a:srgbClr val="3D3428"/>
                </a:solidFill>
                <a:latin typeface="Courier New"/>
              </a:defRPr>
            </a:pPr>
            <a:r>
              <a:t>📍 Lisbonne, Portugal</a:t>
            </a:r>
          </a:p>
        </p:txBody>
      </p:sp>
      <p:sp>
        <p:nvSpPr>
          <p:cNvPr id="9" name="Rectangle 8"/>
          <p:cNvSpPr/>
          <p:nvPr/>
        </p:nvSpPr>
        <p:spPr>
          <a:xfrm>
            <a:off x="731520" y="2926080"/>
            <a:ext cx="38100" cy="1097280"/>
          </a:xfrm>
          <a:prstGeom prst="rect">
            <a:avLst/>
          </a:prstGeom>
          <a:solidFill>
            <a:srgbClr val="8B45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926080"/>
            <a:ext cx="1097280" cy="365760"/>
          </a:xfrm>
          <a:prstGeom prst="rect">
            <a:avLst/>
          </a:prstGeom>
          <a:noFill/>
        </p:spPr>
        <p:txBody>
          <a:bodyPr wrap="square">
            <a:spAutoFit/>
          </a:bodyPr>
          <a:lstStyle/>
          <a:p>
            <a:pPr algn="l">
              <a:defRPr sz="1000" b="0" i="0">
                <a:solidFill>
                  <a:srgbClr val="8B4513"/>
                </a:solidFill>
                <a:latin typeface="Courier New"/>
              </a:defRPr>
            </a:pPr>
            <a:r>
              <a:t>2014</a:t>
            </a:r>
          </a:p>
        </p:txBody>
      </p:sp>
      <p:sp>
        <p:nvSpPr>
          <p:cNvPr id="11" name="TextBox 10"/>
          <p:cNvSpPr txBox="1"/>
          <p:nvPr/>
        </p:nvSpPr>
        <p:spPr>
          <a:xfrm>
            <a:off x="2286000" y="2880360"/>
            <a:ext cx="4572000" cy="411480"/>
          </a:xfrm>
          <a:prstGeom prst="rect">
            <a:avLst/>
          </a:prstGeom>
          <a:noFill/>
        </p:spPr>
        <p:txBody>
          <a:bodyPr wrap="square">
            <a:spAutoFit/>
          </a:bodyPr>
          <a:lstStyle/>
          <a:p>
            <a:pPr algn="l">
              <a:defRPr sz="1400" b="1" i="0">
                <a:solidFill>
                  <a:srgbClr val="D4CFC4"/>
                </a:solidFill>
                <a:latin typeface="Courier New"/>
              </a:defRPr>
            </a:pPr>
            <a:r>
              <a:t>DISSECTION</a:t>
            </a:r>
          </a:p>
        </p:txBody>
      </p:sp>
      <p:sp>
        <p:nvSpPr>
          <p:cNvPr id="12" name="TextBox 11"/>
          <p:cNvSpPr txBox="1"/>
          <p:nvPr/>
        </p:nvSpPr>
        <p:spPr>
          <a:xfrm>
            <a:off x="2286000" y="3291840"/>
            <a:ext cx="5486400" cy="640080"/>
          </a:xfrm>
          <a:prstGeom prst="rect">
            <a:avLst/>
          </a:prstGeom>
          <a:noFill/>
        </p:spPr>
        <p:txBody>
          <a:bodyPr wrap="square">
            <a:spAutoFit/>
          </a:bodyPr>
          <a:lstStyle/>
          <a:p>
            <a:pPr algn="l">
              <a:defRPr sz="1100" b="0" i="0">
                <a:solidFill>
                  <a:srgbClr val="A89F91"/>
                </a:solidFill>
                <a:latin typeface="Courier New"/>
              </a:defRPr>
            </a:pPr>
            <a:r>
              <a:t>Installation immersive explorant la déconstruction de l'identité à travers des portraits sculptés en couches de matériaux urbains.</a:t>
            </a:r>
          </a:p>
        </p:txBody>
      </p:sp>
      <p:sp>
        <p:nvSpPr>
          <p:cNvPr id="13" name="TextBox 12"/>
          <p:cNvSpPr txBox="1"/>
          <p:nvPr/>
        </p:nvSpPr>
        <p:spPr>
          <a:xfrm>
            <a:off x="8686800" y="3063240"/>
            <a:ext cx="3200400" cy="365760"/>
          </a:xfrm>
          <a:prstGeom prst="rect">
            <a:avLst/>
          </a:prstGeom>
          <a:noFill/>
        </p:spPr>
        <p:txBody>
          <a:bodyPr wrap="square">
            <a:spAutoFit/>
          </a:bodyPr>
          <a:lstStyle/>
          <a:p>
            <a:pPr algn="l">
              <a:defRPr sz="900" b="0" i="0">
                <a:solidFill>
                  <a:srgbClr val="3D3428"/>
                </a:solidFill>
                <a:latin typeface="Courier New"/>
              </a:defRPr>
            </a:pPr>
            <a:r>
              <a:t>📍 Hong Kong</a:t>
            </a:r>
          </a:p>
        </p:txBody>
      </p:sp>
      <p:sp>
        <p:nvSpPr>
          <p:cNvPr id="14" name="Rectangle 13"/>
          <p:cNvSpPr/>
          <p:nvPr/>
        </p:nvSpPr>
        <p:spPr>
          <a:xfrm>
            <a:off x="731520" y="4206240"/>
            <a:ext cx="38100" cy="1097280"/>
          </a:xfrm>
          <a:prstGeom prst="rect">
            <a:avLst/>
          </a:prstGeom>
          <a:solidFill>
            <a:srgbClr val="8B45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206240"/>
            <a:ext cx="1097280" cy="365760"/>
          </a:xfrm>
          <a:prstGeom prst="rect">
            <a:avLst/>
          </a:prstGeom>
          <a:noFill/>
        </p:spPr>
        <p:txBody>
          <a:bodyPr wrap="square">
            <a:spAutoFit/>
          </a:bodyPr>
          <a:lstStyle/>
          <a:p>
            <a:pPr algn="l">
              <a:defRPr sz="1000" b="0" i="0">
                <a:solidFill>
                  <a:srgbClr val="8B4513"/>
                </a:solidFill>
                <a:latin typeface="Courier New"/>
              </a:defRPr>
            </a:pPr>
            <a:r>
              <a:t>2019</a:t>
            </a:r>
          </a:p>
        </p:txBody>
      </p:sp>
      <p:sp>
        <p:nvSpPr>
          <p:cNvPr id="16" name="TextBox 15"/>
          <p:cNvSpPr txBox="1"/>
          <p:nvPr/>
        </p:nvSpPr>
        <p:spPr>
          <a:xfrm>
            <a:off x="2286000" y="4160520"/>
            <a:ext cx="4572000" cy="411480"/>
          </a:xfrm>
          <a:prstGeom prst="rect">
            <a:avLst/>
          </a:prstGeom>
          <a:noFill/>
        </p:spPr>
        <p:txBody>
          <a:bodyPr wrap="square">
            <a:spAutoFit/>
          </a:bodyPr>
          <a:lstStyle/>
          <a:p>
            <a:pPr algn="l">
              <a:defRPr sz="1400" b="1" i="0">
                <a:solidFill>
                  <a:srgbClr val="D4CFC4"/>
                </a:solidFill>
                <a:latin typeface="Courier New"/>
              </a:defRPr>
            </a:pPr>
            <a:r>
              <a:t>ETHEREAL</a:t>
            </a:r>
          </a:p>
        </p:txBody>
      </p:sp>
      <p:sp>
        <p:nvSpPr>
          <p:cNvPr id="17" name="TextBox 16"/>
          <p:cNvSpPr txBox="1"/>
          <p:nvPr/>
        </p:nvSpPr>
        <p:spPr>
          <a:xfrm>
            <a:off x="2286000" y="4572000"/>
            <a:ext cx="5486400" cy="640080"/>
          </a:xfrm>
          <a:prstGeom prst="rect">
            <a:avLst/>
          </a:prstGeom>
          <a:noFill/>
        </p:spPr>
        <p:txBody>
          <a:bodyPr wrap="square">
            <a:spAutoFit/>
          </a:bodyPr>
          <a:lstStyle/>
          <a:p>
            <a:pPr algn="l">
              <a:defRPr sz="1100" b="0" i="0">
                <a:solidFill>
                  <a:srgbClr val="A89F91"/>
                </a:solidFill>
                <a:latin typeface="Courier New"/>
              </a:defRPr>
            </a:pPr>
            <a:r>
              <a:t>Série utilisant la pyrotechnie et les explosifs pour créer des portraits éphémères capturés en vidéo haute vitesse.</a:t>
            </a:r>
          </a:p>
        </p:txBody>
      </p:sp>
      <p:sp>
        <p:nvSpPr>
          <p:cNvPr id="18" name="TextBox 17"/>
          <p:cNvSpPr txBox="1"/>
          <p:nvPr/>
        </p:nvSpPr>
        <p:spPr>
          <a:xfrm>
            <a:off x="8686800" y="4343400"/>
            <a:ext cx="3200400" cy="365760"/>
          </a:xfrm>
          <a:prstGeom prst="rect">
            <a:avLst/>
          </a:prstGeom>
          <a:noFill/>
        </p:spPr>
        <p:txBody>
          <a:bodyPr wrap="square">
            <a:spAutoFit/>
          </a:bodyPr>
          <a:lstStyle/>
          <a:p>
            <a:pPr algn="l">
              <a:defRPr sz="900" b="0" i="0">
                <a:solidFill>
                  <a:srgbClr val="3D3428"/>
                </a:solidFill>
                <a:latin typeface="Courier New"/>
              </a:defRPr>
            </a:pPr>
            <a:r>
              <a:t>📍 International</a:t>
            </a:r>
          </a:p>
        </p:txBody>
      </p:sp>
      <p:sp>
        <p:nvSpPr>
          <p:cNvPr id="19" name="Rectangle 18"/>
          <p:cNvSpPr/>
          <p:nvPr/>
        </p:nvSpPr>
        <p:spPr>
          <a:xfrm>
            <a:off x="731520" y="5486400"/>
            <a:ext cx="38100" cy="1097280"/>
          </a:xfrm>
          <a:prstGeom prst="rect">
            <a:avLst/>
          </a:prstGeom>
          <a:solidFill>
            <a:srgbClr val="8B45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86400"/>
            <a:ext cx="1097280" cy="365760"/>
          </a:xfrm>
          <a:prstGeom prst="rect">
            <a:avLst/>
          </a:prstGeom>
          <a:noFill/>
        </p:spPr>
        <p:txBody>
          <a:bodyPr wrap="square">
            <a:spAutoFit/>
          </a:bodyPr>
          <a:lstStyle/>
          <a:p>
            <a:pPr algn="l">
              <a:defRPr sz="1000" b="0" i="0">
                <a:solidFill>
                  <a:srgbClr val="8B4513"/>
                </a:solidFill>
                <a:latin typeface="Courier New"/>
              </a:defRPr>
            </a:pPr>
            <a:r>
              <a:t>2021</a:t>
            </a:r>
          </a:p>
        </p:txBody>
      </p:sp>
      <p:sp>
        <p:nvSpPr>
          <p:cNvPr id="21" name="TextBox 20"/>
          <p:cNvSpPr txBox="1"/>
          <p:nvPr/>
        </p:nvSpPr>
        <p:spPr>
          <a:xfrm>
            <a:off x="2286000" y="5440680"/>
            <a:ext cx="4572000" cy="411480"/>
          </a:xfrm>
          <a:prstGeom prst="rect">
            <a:avLst/>
          </a:prstGeom>
          <a:noFill/>
        </p:spPr>
        <p:txBody>
          <a:bodyPr wrap="square">
            <a:spAutoFit/>
          </a:bodyPr>
          <a:lstStyle/>
          <a:p>
            <a:pPr algn="l">
              <a:defRPr sz="1400" b="1" i="0">
                <a:solidFill>
                  <a:srgbClr val="D4CFC4"/>
                </a:solidFill>
                <a:latin typeface="Courier New"/>
              </a:defRPr>
            </a:pPr>
            <a:r>
              <a:t>HOMENAGEM AOS PROFISSIONAIS DE SAÚDE</a:t>
            </a:r>
          </a:p>
        </p:txBody>
      </p:sp>
      <p:sp>
        <p:nvSpPr>
          <p:cNvPr id="22" name="TextBox 21"/>
          <p:cNvSpPr txBox="1"/>
          <p:nvPr/>
        </p:nvSpPr>
        <p:spPr>
          <a:xfrm>
            <a:off x="2286000" y="5852160"/>
            <a:ext cx="5486400" cy="640080"/>
          </a:xfrm>
          <a:prstGeom prst="rect">
            <a:avLst/>
          </a:prstGeom>
          <a:noFill/>
        </p:spPr>
        <p:txBody>
          <a:bodyPr wrap="square">
            <a:spAutoFit/>
          </a:bodyPr>
          <a:lstStyle/>
          <a:p>
            <a:pPr algn="l">
              <a:defRPr sz="1100" b="0" i="0">
                <a:solidFill>
                  <a:srgbClr val="A89F91"/>
                </a:solidFill>
                <a:latin typeface="Courier New"/>
              </a:defRPr>
            </a:pPr>
            <a:r>
              <a:t>Immense portrait d'une soignante gravé sur un mur d'hôpital en hommage aux travailleurs de santé pendant la pandémie.</a:t>
            </a:r>
          </a:p>
        </p:txBody>
      </p:sp>
      <p:sp>
        <p:nvSpPr>
          <p:cNvPr id="23" name="TextBox 22"/>
          <p:cNvSpPr txBox="1"/>
          <p:nvPr/>
        </p:nvSpPr>
        <p:spPr>
          <a:xfrm>
            <a:off x="8686800" y="5623560"/>
            <a:ext cx="3200400" cy="365760"/>
          </a:xfrm>
          <a:prstGeom prst="rect">
            <a:avLst/>
          </a:prstGeom>
          <a:noFill/>
        </p:spPr>
        <p:txBody>
          <a:bodyPr wrap="square">
            <a:spAutoFit/>
          </a:bodyPr>
          <a:lstStyle/>
          <a:p>
            <a:pPr algn="l">
              <a:defRPr sz="900" b="0" i="0">
                <a:solidFill>
                  <a:srgbClr val="3D3428"/>
                </a:solidFill>
                <a:latin typeface="Courier New"/>
              </a:defRPr>
            </a:pPr>
            <a:r>
              <a:t>📍 Hospital São José, Lisbonne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5120E"/>
        </a:solidFill>
        <a:effectLst/>
      </p:bgPr>
    </p:bg>
    <p:spTree>
      <p:nvGrpSpPr>
        <p:cNvPr id="1" name=""/>
        <p:cNvGrpSpPr/>
        <p:nvPr/>
      </p:nvGrpSpPr>
      <p:grpSpPr/>
      <p:sp>
        <p:nvSpPr>
          <p:cNvPr id="2" name="TextBox 1"/>
          <p:cNvSpPr txBox="1"/>
          <p:nvPr/>
        </p:nvSpPr>
        <p:spPr>
          <a:xfrm>
            <a:off x="457200" y="731520"/>
            <a:ext cx="1828800" cy="1828800"/>
          </a:xfrm>
          <a:prstGeom prst="rect">
            <a:avLst/>
          </a:prstGeom>
          <a:noFill/>
        </p:spPr>
        <p:txBody>
          <a:bodyPr wrap="square">
            <a:spAutoFit/>
          </a:bodyPr>
          <a:lstStyle/>
          <a:p>
            <a:pPr algn="l">
              <a:defRPr sz="20000" b="1" i="0">
                <a:solidFill>
                  <a:srgbClr val="3A2010"/>
                </a:solidFill>
                <a:latin typeface="Courier New"/>
              </a:defRPr>
            </a:pPr>
            <a:r>
              <a:t>«</a:t>
            </a:r>
          </a:p>
        </p:txBody>
      </p:sp>
      <p:sp>
        <p:nvSpPr>
          <p:cNvPr id="3" name="TextBox 2"/>
          <p:cNvSpPr txBox="1"/>
          <p:nvPr/>
        </p:nvSpPr>
        <p:spPr>
          <a:xfrm>
            <a:off x="1371600" y="1828800"/>
            <a:ext cx="9144000" cy="2286000"/>
          </a:xfrm>
          <a:prstGeom prst="rect">
            <a:avLst/>
          </a:prstGeom>
          <a:noFill/>
        </p:spPr>
        <p:txBody>
          <a:bodyPr wrap="square">
            <a:spAutoFit/>
          </a:bodyPr>
          <a:lstStyle/>
          <a:p>
            <a:pPr algn="ctr">
              <a:defRPr sz="2800" b="0" i="1">
                <a:solidFill>
                  <a:srgbClr val="D4CFC4"/>
                </a:solidFill>
                <a:latin typeface="Courier New"/>
              </a:defRPr>
            </a:pPr>
            <a:r>
              <a:t>Je ne crée pas en ajoutant,</a:t>
            </a:r>
            <a:br/>
            <a:r>
              <a:t>je crée en enlevant.</a:t>
            </a:r>
            <a:br/>
            <a:r>
              <a:t>Chaque coup de burin révèle</a:t>
            </a:r>
            <a:br/>
            <a:r>
              <a:t>ce qui était déjà là,</a:t>
            </a:r>
            <a:br/>
            <a:r>
              <a:t>caché sous la surface.</a:t>
            </a:r>
          </a:p>
        </p:txBody>
      </p:sp>
      <p:sp>
        <p:nvSpPr>
          <p:cNvPr id="4" name="TextBox 3"/>
          <p:cNvSpPr txBox="1"/>
          <p:nvPr/>
        </p:nvSpPr>
        <p:spPr>
          <a:xfrm>
            <a:off x="1828800" y="4389120"/>
            <a:ext cx="8229600" cy="457200"/>
          </a:xfrm>
          <a:prstGeom prst="rect">
            <a:avLst/>
          </a:prstGeom>
          <a:noFill/>
        </p:spPr>
        <p:txBody>
          <a:bodyPr wrap="square">
            <a:spAutoFit/>
          </a:bodyPr>
          <a:lstStyle/>
          <a:p>
            <a:pPr algn="ctr">
              <a:defRPr sz="1400" b="0" i="0">
                <a:solidFill>
                  <a:srgbClr val="8B4513"/>
                </a:solidFill>
                <a:latin typeface="Courier New"/>
              </a:defRPr>
            </a:pPr>
            <a:r>
              <a:t>— VHILS</a:t>
            </a:r>
          </a:p>
        </p:txBody>
      </p:sp>
      <p:sp>
        <p:nvSpPr>
          <p:cNvPr id="5" name="Rectangle 4"/>
          <p:cNvSpPr/>
          <p:nvPr/>
        </p:nvSpPr>
        <p:spPr>
          <a:xfrm>
            <a:off x="3657600" y="5029200"/>
            <a:ext cx="4572000" cy="12700"/>
          </a:xfrm>
          <a:prstGeom prst="rect">
            <a:avLst/>
          </a:prstGeom>
          <a:solidFill>
            <a:srgbClr val="3D3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0" y="5303520"/>
            <a:ext cx="7315200" cy="1371600"/>
          </a:xfrm>
          <a:prstGeom prst="rect">
            <a:avLst/>
          </a:prstGeom>
          <a:noFill/>
        </p:spPr>
        <p:txBody>
          <a:bodyPr wrap="square">
            <a:spAutoFit/>
          </a:bodyPr>
          <a:lstStyle/>
          <a:p>
            <a:pPr algn="ctr">
              <a:defRPr sz="1300" b="0" i="0">
                <a:solidFill>
                  <a:srgbClr val="A89F91"/>
                </a:solidFill>
                <a:latin typeface="Courier New"/>
              </a:defRPr>
            </a:pPr>
            <a:r>
              <a:t>Sa philosophie artistique repose sur l'idée que la beauté existe déjà dans les murs de nos villes. L'artiste ne fait que la libérer en retirant les couches superflues, comme un archéologue urbain mettant au jour les mémoires enfouies de l'espace public.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61310"/>
        </a:solidFill>
        <a:effectLst/>
      </p:bgPr>
    </p:bg>
    <p:spTree>
      <p:nvGrpSpPr>
        <p:cNvPr id="1" name=""/>
        <p:cNvGrpSpPr/>
        <p:nvPr/>
      </p:nvGrpSpPr>
      <p:grpSpPr/>
      <p:sp>
        <p:nvSpPr>
          <p:cNvPr id="2" name="TextBox 1"/>
          <p:cNvSpPr txBox="1"/>
          <p:nvPr/>
        </p:nvSpPr>
        <p:spPr>
          <a:xfrm>
            <a:off x="731520" y="365760"/>
            <a:ext cx="9144000" cy="914400"/>
          </a:xfrm>
          <a:prstGeom prst="rect">
            <a:avLst/>
          </a:prstGeom>
          <a:noFill/>
        </p:spPr>
        <p:txBody>
          <a:bodyPr wrap="square">
            <a:spAutoFit/>
          </a:bodyPr>
          <a:lstStyle/>
          <a:p>
            <a:pPr algn="l">
              <a:defRPr sz="3800" b="1" i="0">
                <a:solidFill>
                  <a:srgbClr val="D4CFC4"/>
                </a:solidFill>
                <a:latin typeface="Courier New"/>
              </a:defRPr>
            </a:pPr>
            <a:r>
              <a:t>RAYONNEMENT MONDIAL</a:t>
            </a:r>
          </a:p>
        </p:txBody>
      </p:sp>
      <p:sp>
        <p:nvSpPr>
          <p:cNvPr id="3" name="Rectangle 2"/>
          <p:cNvSpPr/>
          <p:nvPr/>
        </p:nvSpPr>
        <p:spPr>
          <a:xfrm>
            <a:off x="731520" y="1143000"/>
            <a:ext cx="1371600" cy="50800"/>
          </a:xfrm>
          <a:prstGeom prst="rect">
            <a:avLst/>
          </a:prstGeom>
          <a:solidFill>
            <a:srgbClr val="8B45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828800"/>
            <a:ext cx="2560320" cy="2011680"/>
          </a:xfrm>
          <a:prstGeom prst="rect">
            <a:avLst/>
          </a:prstGeom>
          <a:solidFill>
            <a:srgbClr val="1E1B17"/>
          </a:solidFill>
          <a:ln w="12700">
            <a:solidFill>
              <a:srgbClr val="3D34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2560320" cy="457200"/>
          </a:xfrm>
          <a:prstGeom prst="rect">
            <a:avLst/>
          </a:prstGeom>
          <a:noFill/>
        </p:spPr>
        <p:txBody>
          <a:bodyPr wrap="square">
            <a:spAutoFit/>
          </a:bodyPr>
          <a:lstStyle/>
          <a:p>
            <a:pPr algn="ctr">
              <a:defRPr sz="2400" b="0" i="0">
                <a:solidFill>
                  <a:srgbClr val="8B4513"/>
                </a:solidFill>
                <a:latin typeface="Courier New"/>
              </a:defRPr>
            </a:pPr>
            <a:r>
              <a:t>◉</a:t>
            </a:r>
          </a:p>
        </p:txBody>
      </p:sp>
      <p:sp>
        <p:nvSpPr>
          <p:cNvPr id="6" name="TextBox 5"/>
          <p:cNvSpPr txBox="1"/>
          <p:nvPr/>
        </p:nvSpPr>
        <p:spPr>
          <a:xfrm>
            <a:off x="731520" y="2834640"/>
            <a:ext cx="2560320" cy="457200"/>
          </a:xfrm>
          <a:prstGeom prst="rect">
            <a:avLst/>
          </a:prstGeom>
          <a:noFill/>
        </p:spPr>
        <p:txBody>
          <a:bodyPr wrap="square">
            <a:spAutoFit/>
          </a:bodyPr>
          <a:lstStyle/>
          <a:p>
            <a:pPr algn="ctr">
              <a:defRPr sz="1300" b="1" i="0">
                <a:solidFill>
                  <a:srgbClr val="D4CFC4"/>
                </a:solidFill>
                <a:latin typeface="Courier New"/>
              </a:defRPr>
            </a:pPr>
            <a:r>
              <a:t>LISBONNE</a:t>
            </a:r>
          </a:p>
        </p:txBody>
      </p:sp>
      <p:sp>
        <p:nvSpPr>
          <p:cNvPr id="7" name="TextBox 6"/>
          <p:cNvSpPr txBox="1"/>
          <p:nvPr/>
        </p:nvSpPr>
        <p:spPr>
          <a:xfrm>
            <a:off x="731520" y="3200400"/>
            <a:ext cx="2560320" cy="365760"/>
          </a:xfrm>
          <a:prstGeom prst="rect">
            <a:avLst/>
          </a:prstGeom>
          <a:noFill/>
        </p:spPr>
        <p:txBody>
          <a:bodyPr wrap="square">
            <a:spAutoFit/>
          </a:bodyPr>
          <a:lstStyle/>
          <a:p>
            <a:pPr algn="ctr">
              <a:defRPr sz="900" b="0" i="0">
                <a:solidFill>
                  <a:srgbClr val="A89F91"/>
                </a:solidFill>
                <a:latin typeface="Courier New"/>
              </a:defRPr>
            </a:pPr>
            <a:r>
              <a:t>Portugal</a:t>
            </a:r>
          </a:p>
        </p:txBody>
      </p:sp>
      <p:sp>
        <p:nvSpPr>
          <p:cNvPr id="8" name="Rectangle 7"/>
          <p:cNvSpPr/>
          <p:nvPr/>
        </p:nvSpPr>
        <p:spPr>
          <a:xfrm>
            <a:off x="3566159" y="1828800"/>
            <a:ext cx="2560320" cy="2011680"/>
          </a:xfrm>
          <a:prstGeom prst="rect">
            <a:avLst/>
          </a:prstGeom>
          <a:solidFill>
            <a:srgbClr val="1E1B17"/>
          </a:solidFill>
          <a:ln w="12700">
            <a:solidFill>
              <a:srgbClr val="3D34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66159" y="2286000"/>
            <a:ext cx="2560320" cy="457200"/>
          </a:xfrm>
          <a:prstGeom prst="rect">
            <a:avLst/>
          </a:prstGeom>
          <a:noFill/>
        </p:spPr>
        <p:txBody>
          <a:bodyPr wrap="square">
            <a:spAutoFit/>
          </a:bodyPr>
          <a:lstStyle/>
          <a:p>
            <a:pPr algn="ctr">
              <a:defRPr sz="2400" b="0" i="0">
                <a:solidFill>
                  <a:srgbClr val="8B4513"/>
                </a:solidFill>
                <a:latin typeface="Courier New"/>
              </a:defRPr>
            </a:pPr>
            <a:r>
              <a:t>◉</a:t>
            </a:r>
          </a:p>
        </p:txBody>
      </p:sp>
      <p:sp>
        <p:nvSpPr>
          <p:cNvPr id="10" name="TextBox 9"/>
          <p:cNvSpPr txBox="1"/>
          <p:nvPr/>
        </p:nvSpPr>
        <p:spPr>
          <a:xfrm>
            <a:off x="3566159" y="2834640"/>
            <a:ext cx="2560320" cy="457200"/>
          </a:xfrm>
          <a:prstGeom prst="rect">
            <a:avLst/>
          </a:prstGeom>
          <a:noFill/>
        </p:spPr>
        <p:txBody>
          <a:bodyPr wrap="square">
            <a:spAutoFit/>
          </a:bodyPr>
          <a:lstStyle/>
          <a:p>
            <a:pPr algn="ctr">
              <a:defRPr sz="1300" b="1" i="0">
                <a:solidFill>
                  <a:srgbClr val="D4CFC4"/>
                </a:solidFill>
                <a:latin typeface="Courier New"/>
              </a:defRPr>
            </a:pPr>
            <a:r>
              <a:t>LONDRES</a:t>
            </a:r>
          </a:p>
        </p:txBody>
      </p:sp>
      <p:sp>
        <p:nvSpPr>
          <p:cNvPr id="11" name="TextBox 10"/>
          <p:cNvSpPr txBox="1"/>
          <p:nvPr/>
        </p:nvSpPr>
        <p:spPr>
          <a:xfrm>
            <a:off x="3566159" y="3200400"/>
            <a:ext cx="2560320" cy="365760"/>
          </a:xfrm>
          <a:prstGeom prst="rect">
            <a:avLst/>
          </a:prstGeom>
          <a:noFill/>
        </p:spPr>
        <p:txBody>
          <a:bodyPr wrap="square">
            <a:spAutoFit/>
          </a:bodyPr>
          <a:lstStyle/>
          <a:p>
            <a:pPr algn="ctr">
              <a:defRPr sz="900" b="0" i="0">
                <a:solidFill>
                  <a:srgbClr val="A89F91"/>
                </a:solidFill>
                <a:latin typeface="Courier New"/>
              </a:defRPr>
            </a:pPr>
            <a:r>
              <a:t>Royaume-Uni</a:t>
            </a:r>
          </a:p>
        </p:txBody>
      </p:sp>
      <p:sp>
        <p:nvSpPr>
          <p:cNvPr id="12" name="Rectangle 11"/>
          <p:cNvSpPr/>
          <p:nvPr/>
        </p:nvSpPr>
        <p:spPr>
          <a:xfrm>
            <a:off x="6400799" y="1828800"/>
            <a:ext cx="2560320" cy="2011680"/>
          </a:xfrm>
          <a:prstGeom prst="rect">
            <a:avLst/>
          </a:prstGeom>
          <a:solidFill>
            <a:srgbClr val="1E1B17"/>
          </a:solidFill>
          <a:ln w="12700">
            <a:solidFill>
              <a:srgbClr val="3D34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799" y="2286000"/>
            <a:ext cx="2560320" cy="457200"/>
          </a:xfrm>
          <a:prstGeom prst="rect">
            <a:avLst/>
          </a:prstGeom>
          <a:noFill/>
        </p:spPr>
        <p:txBody>
          <a:bodyPr wrap="square">
            <a:spAutoFit/>
          </a:bodyPr>
          <a:lstStyle/>
          <a:p>
            <a:pPr algn="ctr">
              <a:defRPr sz="2400" b="0" i="0">
                <a:solidFill>
                  <a:srgbClr val="8B4513"/>
                </a:solidFill>
                <a:latin typeface="Courier New"/>
              </a:defRPr>
            </a:pPr>
            <a:r>
              <a:t>◉</a:t>
            </a:r>
          </a:p>
        </p:txBody>
      </p:sp>
      <p:sp>
        <p:nvSpPr>
          <p:cNvPr id="14" name="TextBox 13"/>
          <p:cNvSpPr txBox="1"/>
          <p:nvPr/>
        </p:nvSpPr>
        <p:spPr>
          <a:xfrm>
            <a:off x="6400799" y="2834640"/>
            <a:ext cx="2560320" cy="457200"/>
          </a:xfrm>
          <a:prstGeom prst="rect">
            <a:avLst/>
          </a:prstGeom>
          <a:noFill/>
        </p:spPr>
        <p:txBody>
          <a:bodyPr wrap="square">
            <a:spAutoFit/>
          </a:bodyPr>
          <a:lstStyle/>
          <a:p>
            <a:pPr algn="ctr">
              <a:defRPr sz="1300" b="1" i="0">
                <a:solidFill>
                  <a:srgbClr val="D4CFC4"/>
                </a:solidFill>
                <a:latin typeface="Courier New"/>
              </a:defRPr>
            </a:pPr>
            <a:r>
              <a:t>PARIS</a:t>
            </a:r>
          </a:p>
        </p:txBody>
      </p:sp>
      <p:sp>
        <p:nvSpPr>
          <p:cNvPr id="15" name="TextBox 14"/>
          <p:cNvSpPr txBox="1"/>
          <p:nvPr/>
        </p:nvSpPr>
        <p:spPr>
          <a:xfrm>
            <a:off x="6400799" y="3200400"/>
            <a:ext cx="2560320" cy="365760"/>
          </a:xfrm>
          <a:prstGeom prst="rect">
            <a:avLst/>
          </a:prstGeom>
          <a:noFill/>
        </p:spPr>
        <p:txBody>
          <a:bodyPr wrap="square">
            <a:spAutoFit/>
          </a:bodyPr>
          <a:lstStyle/>
          <a:p>
            <a:pPr algn="ctr">
              <a:defRPr sz="900" b="0" i="0">
                <a:solidFill>
                  <a:srgbClr val="A89F91"/>
                </a:solidFill>
                <a:latin typeface="Courier New"/>
              </a:defRPr>
            </a:pPr>
            <a:r>
              <a:t>France</a:t>
            </a:r>
          </a:p>
        </p:txBody>
      </p:sp>
      <p:sp>
        <p:nvSpPr>
          <p:cNvPr id="16" name="Rectangle 15"/>
          <p:cNvSpPr/>
          <p:nvPr/>
        </p:nvSpPr>
        <p:spPr>
          <a:xfrm>
            <a:off x="9235440" y="1828800"/>
            <a:ext cx="2560320" cy="2011680"/>
          </a:xfrm>
          <a:prstGeom prst="rect">
            <a:avLst/>
          </a:prstGeom>
          <a:solidFill>
            <a:srgbClr val="1E1B17"/>
          </a:solidFill>
          <a:ln w="12700">
            <a:solidFill>
              <a:srgbClr val="3D34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0" y="2286000"/>
            <a:ext cx="2560320" cy="457200"/>
          </a:xfrm>
          <a:prstGeom prst="rect">
            <a:avLst/>
          </a:prstGeom>
          <a:noFill/>
        </p:spPr>
        <p:txBody>
          <a:bodyPr wrap="square">
            <a:spAutoFit/>
          </a:bodyPr>
          <a:lstStyle/>
          <a:p>
            <a:pPr algn="ctr">
              <a:defRPr sz="2400" b="0" i="0">
                <a:solidFill>
                  <a:srgbClr val="8B4513"/>
                </a:solidFill>
                <a:latin typeface="Courier New"/>
              </a:defRPr>
            </a:pPr>
            <a:r>
              <a:t>◉</a:t>
            </a:r>
          </a:p>
        </p:txBody>
      </p:sp>
      <p:sp>
        <p:nvSpPr>
          <p:cNvPr id="18" name="TextBox 17"/>
          <p:cNvSpPr txBox="1"/>
          <p:nvPr/>
        </p:nvSpPr>
        <p:spPr>
          <a:xfrm>
            <a:off x="9235440" y="2834640"/>
            <a:ext cx="2560320" cy="457200"/>
          </a:xfrm>
          <a:prstGeom prst="rect">
            <a:avLst/>
          </a:prstGeom>
          <a:noFill/>
        </p:spPr>
        <p:txBody>
          <a:bodyPr wrap="square">
            <a:spAutoFit/>
          </a:bodyPr>
          <a:lstStyle/>
          <a:p>
            <a:pPr algn="ctr">
              <a:defRPr sz="1300" b="1" i="0">
                <a:solidFill>
                  <a:srgbClr val="D4CFC4"/>
                </a:solidFill>
                <a:latin typeface="Courier New"/>
              </a:defRPr>
            </a:pPr>
            <a:r>
              <a:t>RIO</a:t>
            </a:r>
          </a:p>
        </p:txBody>
      </p:sp>
      <p:sp>
        <p:nvSpPr>
          <p:cNvPr id="19" name="TextBox 18"/>
          <p:cNvSpPr txBox="1"/>
          <p:nvPr/>
        </p:nvSpPr>
        <p:spPr>
          <a:xfrm>
            <a:off x="9235440" y="3200400"/>
            <a:ext cx="2560320" cy="365760"/>
          </a:xfrm>
          <a:prstGeom prst="rect">
            <a:avLst/>
          </a:prstGeom>
          <a:noFill/>
        </p:spPr>
        <p:txBody>
          <a:bodyPr wrap="square">
            <a:spAutoFit/>
          </a:bodyPr>
          <a:lstStyle/>
          <a:p>
            <a:pPr algn="ctr">
              <a:defRPr sz="900" b="0" i="0">
                <a:solidFill>
                  <a:srgbClr val="A89F91"/>
                </a:solidFill>
                <a:latin typeface="Courier New"/>
              </a:defRPr>
            </a:pPr>
            <a:r>
              <a:t>Brésil</a:t>
            </a:r>
          </a:p>
        </p:txBody>
      </p:sp>
      <p:sp>
        <p:nvSpPr>
          <p:cNvPr id="20" name="Rectangle 19"/>
          <p:cNvSpPr/>
          <p:nvPr/>
        </p:nvSpPr>
        <p:spPr>
          <a:xfrm>
            <a:off x="731520" y="4114800"/>
            <a:ext cx="2560320" cy="2011680"/>
          </a:xfrm>
          <a:prstGeom prst="rect">
            <a:avLst/>
          </a:prstGeom>
          <a:solidFill>
            <a:srgbClr val="1E1B17"/>
          </a:solidFill>
          <a:ln w="12700">
            <a:solidFill>
              <a:srgbClr val="3D34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572000"/>
            <a:ext cx="2560320" cy="457200"/>
          </a:xfrm>
          <a:prstGeom prst="rect">
            <a:avLst/>
          </a:prstGeom>
          <a:noFill/>
        </p:spPr>
        <p:txBody>
          <a:bodyPr wrap="square">
            <a:spAutoFit/>
          </a:bodyPr>
          <a:lstStyle/>
          <a:p>
            <a:pPr algn="ctr">
              <a:defRPr sz="2400" b="0" i="0">
                <a:solidFill>
                  <a:srgbClr val="8B4513"/>
                </a:solidFill>
                <a:latin typeface="Courier New"/>
              </a:defRPr>
            </a:pPr>
            <a:r>
              <a:t>◉</a:t>
            </a:r>
          </a:p>
        </p:txBody>
      </p:sp>
      <p:sp>
        <p:nvSpPr>
          <p:cNvPr id="22" name="TextBox 21"/>
          <p:cNvSpPr txBox="1"/>
          <p:nvPr/>
        </p:nvSpPr>
        <p:spPr>
          <a:xfrm>
            <a:off x="731520" y="5120640"/>
            <a:ext cx="2560320" cy="457200"/>
          </a:xfrm>
          <a:prstGeom prst="rect">
            <a:avLst/>
          </a:prstGeom>
          <a:noFill/>
        </p:spPr>
        <p:txBody>
          <a:bodyPr wrap="square">
            <a:spAutoFit/>
          </a:bodyPr>
          <a:lstStyle/>
          <a:p>
            <a:pPr algn="ctr">
              <a:defRPr sz="1300" b="1" i="0">
                <a:solidFill>
                  <a:srgbClr val="D4CFC4"/>
                </a:solidFill>
                <a:latin typeface="Courier New"/>
              </a:defRPr>
            </a:pPr>
            <a:r>
              <a:t>HONG KONG</a:t>
            </a:r>
          </a:p>
        </p:txBody>
      </p:sp>
      <p:sp>
        <p:nvSpPr>
          <p:cNvPr id="23" name="TextBox 22"/>
          <p:cNvSpPr txBox="1"/>
          <p:nvPr/>
        </p:nvSpPr>
        <p:spPr>
          <a:xfrm>
            <a:off x="731520" y="5486400"/>
            <a:ext cx="2560320" cy="365760"/>
          </a:xfrm>
          <a:prstGeom prst="rect">
            <a:avLst/>
          </a:prstGeom>
          <a:noFill/>
        </p:spPr>
        <p:txBody>
          <a:bodyPr wrap="square">
            <a:spAutoFit/>
          </a:bodyPr>
          <a:lstStyle/>
          <a:p>
            <a:pPr algn="ctr">
              <a:defRPr sz="900" b="0" i="0">
                <a:solidFill>
                  <a:srgbClr val="A89F91"/>
                </a:solidFill>
                <a:latin typeface="Courier New"/>
              </a:defRPr>
            </a:pPr>
            <a:r>
              <a:t>Chine</a:t>
            </a:r>
          </a:p>
        </p:txBody>
      </p:sp>
      <p:sp>
        <p:nvSpPr>
          <p:cNvPr id="24" name="Rectangle 23"/>
          <p:cNvSpPr/>
          <p:nvPr/>
        </p:nvSpPr>
        <p:spPr>
          <a:xfrm>
            <a:off x="3566159" y="4114800"/>
            <a:ext cx="2560320" cy="2011680"/>
          </a:xfrm>
          <a:prstGeom prst="rect">
            <a:avLst/>
          </a:prstGeom>
          <a:solidFill>
            <a:srgbClr val="1E1B17"/>
          </a:solidFill>
          <a:ln w="12700">
            <a:solidFill>
              <a:srgbClr val="3D34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66159" y="4572000"/>
            <a:ext cx="2560320" cy="457200"/>
          </a:xfrm>
          <a:prstGeom prst="rect">
            <a:avLst/>
          </a:prstGeom>
          <a:noFill/>
        </p:spPr>
        <p:txBody>
          <a:bodyPr wrap="square">
            <a:spAutoFit/>
          </a:bodyPr>
          <a:lstStyle/>
          <a:p>
            <a:pPr algn="ctr">
              <a:defRPr sz="2400" b="0" i="0">
                <a:solidFill>
                  <a:srgbClr val="8B4513"/>
                </a:solidFill>
                <a:latin typeface="Courier New"/>
              </a:defRPr>
            </a:pPr>
            <a:r>
              <a:t>◉</a:t>
            </a:r>
          </a:p>
        </p:txBody>
      </p:sp>
      <p:sp>
        <p:nvSpPr>
          <p:cNvPr id="26" name="TextBox 25"/>
          <p:cNvSpPr txBox="1"/>
          <p:nvPr/>
        </p:nvSpPr>
        <p:spPr>
          <a:xfrm>
            <a:off x="3566159" y="5120640"/>
            <a:ext cx="2560320" cy="457200"/>
          </a:xfrm>
          <a:prstGeom prst="rect">
            <a:avLst/>
          </a:prstGeom>
          <a:noFill/>
        </p:spPr>
        <p:txBody>
          <a:bodyPr wrap="square">
            <a:spAutoFit/>
          </a:bodyPr>
          <a:lstStyle/>
          <a:p>
            <a:pPr algn="ctr">
              <a:defRPr sz="1300" b="1" i="0">
                <a:solidFill>
                  <a:srgbClr val="D4CFC4"/>
                </a:solidFill>
                <a:latin typeface="Courier New"/>
              </a:defRPr>
            </a:pPr>
            <a:r>
              <a:t>LOS ANGELES</a:t>
            </a:r>
          </a:p>
        </p:txBody>
      </p:sp>
      <p:sp>
        <p:nvSpPr>
          <p:cNvPr id="27" name="TextBox 26"/>
          <p:cNvSpPr txBox="1"/>
          <p:nvPr/>
        </p:nvSpPr>
        <p:spPr>
          <a:xfrm>
            <a:off x="3566159" y="5486400"/>
            <a:ext cx="2560320" cy="365760"/>
          </a:xfrm>
          <a:prstGeom prst="rect">
            <a:avLst/>
          </a:prstGeom>
          <a:noFill/>
        </p:spPr>
        <p:txBody>
          <a:bodyPr wrap="square">
            <a:spAutoFit/>
          </a:bodyPr>
          <a:lstStyle/>
          <a:p>
            <a:pPr algn="ctr">
              <a:defRPr sz="900" b="0" i="0">
                <a:solidFill>
                  <a:srgbClr val="A89F91"/>
                </a:solidFill>
                <a:latin typeface="Courier New"/>
              </a:defRPr>
            </a:pPr>
            <a:r>
              <a:t>États-Unis</a:t>
            </a:r>
          </a:p>
        </p:txBody>
      </p:sp>
      <p:sp>
        <p:nvSpPr>
          <p:cNvPr id="28" name="Rectangle 27"/>
          <p:cNvSpPr/>
          <p:nvPr/>
        </p:nvSpPr>
        <p:spPr>
          <a:xfrm>
            <a:off x="6400799" y="4114800"/>
            <a:ext cx="2560320" cy="2011680"/>
          </a:xfrm>
          <a:prstGeom prst="rect">
            <a:avLst/>
          </a:prstGeom>
          <a:solidFill>
            <a:srgbClr val="1E1B17"/>
          </a:solidFill>
          <a:ln w="12700">
            <a:solidFill>
              <a:srgbClr val="3D34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799" y="4572000"/>
            <a:ext cx="2560320" cy="457200"/>
          </a:xfrm>
          <a:prstGeom prst="rect">
            <a:avLst/>
          </a:prstGeom>
          <a:noFill/>
        </p:spPr>
        <p:txBody>
          <a:bodyPr wrap="square">
            <a:spAutoFit/>
          </a:bodyPr>
          <a:lstStyle/>
          <a:p>
            <a:pPr algn="ctr">
              <a:defRPr sz="2400" b="0" i="0">
                <a:solidFill>
                  <a:srgbClr val="8B4513"/>
                </a:solidFill>
                <a:latin typeface="Courier New"/>
              </a:defRPr>
            </a:pPr>
            <a:r>
              <a:t>◉</a:t>
            </a:r>
          </a:p>
        </p:txBody>
      </p:sp>
      <p:sp>
        <p:nvSpPr>
          <p:cNvPr id="30" name="TextBox 29"/>
          <p:cNvSpPr txBox="1"/>
          <p:nvPr/>
        </p:nvSpPr>
        <p:spPr>
          <a:xfrm>
            <a:off x="6400799" y="5120640"/>
            <a:ext cx="2560320" cy="457200"/>
          </a:xfrm>
          <a:prstGeom prst="rect">
            <a:avLst/>
          </a:prstGeom>
          <a:noFill/>
        </p:spPr>
        <p:txBody>
          <a:bodyPr wrap="square">
            <a:spAutoFit/>
          </a:bodyPr>
          <a:lstStyle/>
          <a:p>
            <a:pPr algn="ctr">
              <a:defRPr sz="1300" b="1" i="0">
                <a:solidFill>
                  <a:srgbClr val="D4CFC4"/>
                </a:solidFill>
                <a:latin typeface="Courier New"/>
              </a:defRPr>
            </a:pPr>
            <a:r>
              <a:t>SYDNEY</a:t>
            </a:r>
          </a:p>
        </p:txBody>
      </p:sp>
      <p:sp>
        <p:nvSpPr>
          <p:cNvPr id="31" name="TextBox 30"/>
          <p:cNvSpPr txBox="1"/>
          <p:nvPr/>
        </p:nvSpPr>
        <p:spPr>
          <a:xfrm>
            <a:off x="6400799" y="5486400"/>
            <a:ext cx="2560320" cy="365760"/>
          </a:xfrm>
          <a:prstGeom prst="rect">
            <a:avLst/>
          </a:prstGeom>
          <a:noFill/>
        </p:spPr>
        <p:txBody>
          <a:bodyPr wrap="square">
            <a:spAutoFit/>
          </a:bodyPr>
          <a:lstStyle/>
          <a:p>
            <a:pPr algn="ctr">
              <a:defRPr sz="900" b="0" i="0">
                <a:solidFill>
                  <a:srgbClr val="A89F91"/>
                </a:solidFill>
                <a:latin typeface="Courier New"/>
              </a:defRPr>
            </a:pPr>
            <a:r>
              <a:t>Australie</a:t>
            </a:r>
          </a:p>
        </p:txBody>
      </p:sp>
      <p:sp>
        <p:nvSpPr>
          <p:cNvPr id="32" name="Rectangle 31"/>
          <p:cNvSpPr/>
          <p:nvPr/>
        </p:nvSpPr>
        <p:spPr>
          <a:xfrm>
            <a:off x="9235440" y="4114800"/>
            <a:ext cx="2560320" cy="2011680"/>
          </a:xfrm>
          <a:prstGeom prst="rect">
            <a:avLst/>
          </a:prstGeom>
          <a:solidFill>
            <a:srgbClr val="1E1B17"/>
          </a:solidFill>
          <a:ln w="12700">
            <a:solidFill>
              <a:srgbClr val="3D34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35440" y="4572000"/>
            <a:ext cx="2560320" cy="457200"/>
          </a:xfrm>
          <a:prstGeom prst="rect">
            <a:avLst/>
          </a:prstGeom>
          <a:noFill/>
        </p:spPr>
        <p:txBody>
          <a:bodyPr wrap="square">
            <a:spAutoFit/>
          </a:bodyPr>
          <a:lstStyle/>
          <a:p>
            <a:pPr algn="ctr">
              <a:defRPr sz="2400" b="0" i="0">
                <a:solidFill>
                  <a:srgbClr val="8B4513"/>
                </a:solidFill>
                <a:latin typeface="Courier New"/>
              </a:defRPr>
            </a:pPr>
            <a:r>
              <a:t>◉</a:t>
            </a:r>
          </a:p>
        </p:txBody>
      </p:sp>
      <p:sp>
        <p:nvSpPr>
          <p:cNvPr id="34" name="TextBox 33"/>
          <p:cNvSpPr txBox="1"/>
          <p:nvPr/>
        </p:nvSpPr>
        <p:spPr>
          <a:xfrm>
            <a:off x="9235440" y="5120640"/>
            <a:ext cx="2560320" cy="457200"/>
          </a:xfrm>
          <a:prstGeom prst="rect">
            <a:avLst/>
          </a:prstGeom>
          <a:noFill/>
        </p:spPr>
        <p:txBody>
          <a:bodyPr wrap="square">
            <a:spAutoFit/>
          </a:bodyPr>
          <a:lstStyle/>
          <a:p>
            <a:pPr algn="ctr">
              <a:defRPr sz="1300" b="1" i="0">
                <a:solidFill>
                  <a:srgbClr val="D4CFC4"/>
                </a:solidFill>
                <a:latin typeface="Courier New"/>
              </a:defRPr>
            </a:pPr>
            <a:r>
              <a:t>MOSCOU</a:t>
            </a:r>
          </a:p>
        </p:txBody>
      </p:sp>
      <p:sp>
        <p:nvSpPr>
          <p:cNvPr id="35" name="TextBox 34"/>
          <p:cNvSpPr txBox="1"/>
          <p:nvPr/>
        </p:nvSpPr>
        <p:spPr>
          <a:xfrm>
            <a:off x="9235440" y="5486400"/>
            <a:ext cx="2560320" cy="365760"/>
          </a:xfrm>
          <a:prstGeom prst="rect">
            <a:avLst/>
          </a:prstGeom>
          <a:noFill/>
        </p:spPr>
        <p:txBody>
          <a:bodyPr wrap="square">
            <a:spAutoFit/>
          </a:bodyPr>
          <a:lstStyle/>
          <a:p>
            <a:pPr algn="ctr">
              <a:defRPr sz="900" b="0" i="0">
                <a:solidFill>
                  <a:srgbClr val="A89F91"/>
                </a:solidFill>
                <a:latin typeface="Courier New"/>
              </a:defRPr>
            </a:pPr>
            <a:r>
              <a:t>Russie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10F0C"/>
        </a:solidFill>
        <a:effectLst/>
      </p:bgPr>
    </p:bg>
    <p:spTree>
      <p:nvGrpSpPr>
        <p:cNvPr id="1" name=""/>
        <p:cNvGrpSpPr/>
        <p:nvPr/>
      </p:nvGrpSpPr>
      <p:grpSpPr/>
      <p:sp>
        <p:nvSpPr>
          <p:cNvPr id="2" name="TextBox 1"/>
          <p:cNvSpPr txBox="1"/>
          <p:nvPr/>
        </p:nvSpPr>
        <p:spPr>
          <a:xfrm>
            <a:off x="731520" y="365760"/>
            <a:ext cx="7315200" cy="914400"/>
          </a:xfrm>
          <a:prstGeom prst="rect">
            <a:avLst/>
          </a:prstGeom>
          <a:noFill/>
        </p:spPr>
        <p:txBody>
          <a:bodyPr wrap="square">
            <a:spAutoFit/>
          </a:bodyPr>
          <a:lstStyle/>
          <a:p>
            <a:pPr algn="l">
              <a:defRPr sz="3800" b="1" i="0">
                <a:solidFill>
                  <a:srgbClr val="D4CFC4"/>
                </a:solidFill>
                <a:latin typeface="Courier New"/>
              </a:defRPr>
            </a:pPr>
            <a:r>
              <a:t>EXPOSITIONS CLÉS</a:t>
            </a:r>
          </a:p>
        </p:txBody>
      </p:sp>
      <p:sp>
        <p:nvSpPr>
          <p:cNvPr id="3" name="Rectangle 2"/>
          <p:cNvSpPr/>
          <p:nvPr/>
        </p:nvSpPr>
        <p:spPr>
          <a:xfrm>
            <a:off x="731520" y="1143000"/>
            <a:ext cx="1371600" cy="50800"/>
          </a:xfrm>
          <a:prstGeom prst="rect">
            <a:avLst/>
          </a:prstGeom>
          <a:solidFill>
            <a:srgbClr val="8B45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645920"/>
            <a:ext cx="25400" cy="4846320"/>
          </a:xfrm>
          <a:prstGeom prst="rect">
            <a:avLst/>
          </a:prstGeom>
          <a:solidFill>
            <a:srgbClr val="8B45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iamond 4"/>
          <p:cNvSpPr/>
          <p:nvPr/>
        </p:nvSpPr>
        <p:spPr>
          <a:xfrm>
            <a:off x="1234440" y="1920240"/>
            <a:ext cx="152400" cy="152400"/>
          </a:xfrm>
          <a:prstGeom prst="diamond">
            <a:avLst/>
          </a:prstGeom>
          <a:solidFill>
            <a:srgbClr val="8B45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1783080"/>
            <a:ext cx="1371600" cy="365760"/>
          </a:xfrm>
          <a:prstGeom prst="rect">
            <a:avLst/>
          </a:prstGeom>
          <a:noFill/>
        </p:spPr>
        <p:txBody>
          <a:bodyPr wrap="square">
            <a:spAutoFit/>
          </a:bodyPr>
          <a:lstStyle/>
          <a:p>
            <a:pPr algn="l">
              <a:defRPr sz="1000" b="0" i="0">
                <a:solidFill>
                  <a:srgbClr val="8B4513"/>
                </a:solidFill>
                <a:latin typeface="Courier New"/>
              </a:defRPr>
            </a:pPr>
            <a:r>
              <a:t>2008</a:t>
            </a:r>
          </a:p>
        </p:txBody>
      </p:sp>
      <p:sp>
        <p:nvSpPr>
          <p:cNvPr id="7" name="TextBox 6"/>
          <p:cNvSpPr txBox="1"/>
          <p:nvPr/>
        </p:nvSpPr>
        <p:spPr>
          <a:xfrm>
            <a:off x="3017520" y="1755648"/>
            <a:ext cx="4572000" cy="411480"/>
          </a:xfrm>
          <a:prstGeom prst="rect">
            <a:avLst/>
          </a:prstGeom>
          <a:noFill/>
        </p:spPr>
        <p:txBody>
          <a:bodyPr wrap="square">
            <a:spAutoFit/>
          </a:bodyPr>
          <a:lstStyle/>
          <a:p>
            <a:pPr algn="l">
              <a:defRPr sz="1600" b="1" i="0">
                <a:solidFill>
                  <a:srgbClr val="D4CFC4"/>
                </a:solidFill>
                <a:latin typeface="Courier New"/>
              </a:defRPr>
            </a:pPr>
            <a:r>
              <a:t>Cans Festival</a:t>
            </a:r>
          </a:p>
        </p:txBody>
      </p:sp>
      <p:sp>
        <p:nvSpPr>
          <p:cNvPr id="8" name="TextBox 7"/>
          <p:cNvSpPr txBox="1"/>
          <p:nvPr/>
        </p:nvSpPr>
        <p:spPr>
          <a:xfrm>
            <a:off x="3017520" y="2148840"/>
            <a:ext cx="7315200" cy="365760"/>
          </a:xfrm>
          <a:prstGeom prst="rect">
            <a:avLst/>
          </a:prstGeom>
          <a:noFill/>
        </p:spPr>
        <p:txBody>
          <a:bodyPr wrap="square">
            <a:spAutoFit/>
          </a:bodyPr>
          <a:lstStyle/>
          <a:p>
            <a:pPr algn="l">
              <a:defRPr sz="1100" b="0" i="0">
                <a:solidFill>
                  <a:srgbClr val="A89F91"/>
                </a:solidFill>
                <a:latin typeface="Courier New"/>
              </a:defRPr>
            </a:pPr>
            <a:r>
              <a:t>Leake Street Tunnel, Londres — aux côtés de Banksy</a:t>
            </a:r>
          </a:p>
        </p:txBody>
      </p:sp>
      <p:sp>
        <p:nvSpPr>
          <p:cNvPr id="9" name="Diamond 8"/>
          <p:cNvSpPr/>
          <p:nvPr/>
        </p:nvSpPr>
        <p:spPr>
          <a:xfrm>
            <a:off x="1234440" y="2743200"/>
            <a:ext cx="152400" cy="152400"/>
          </a:xfrm>
          <a:prstGeom prst="diamond">
            <a:avLst/>
          </a:prstGeom>
          <a:solidFill>
            <a:srgbClr val="8B45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2606040"/>
            <a:ext cx="1371600" cy="365760"/>
          </a:xfrm>
          <a:prstGeom prst="rect">
            <a:avLst/>
          </a:prstGeom>
          <a:noFill/>
        </p:spPr>
        <p:txBody>
          <a:bodyPr wrap="square">
            <a:spAutoFit/>
          </a:bodyPr>
          <a:lstStyle/>
          <a:p>
            <a:pPr algn="l">
              <a:defRPr sz="1000" b="0" i="0">
                <a:solidFill>
                  <a:srgbClr val="8B4513"/>
                </a:solidFill>
                <a:latin typeface="Courier New"/>
              </a:defRPr>
            </a:pPr>
            <a:r>
              <a:t>2011</a:t>
            </a:r>
          </a:p>
        </p:txBody>
      </p:sp>
      <p:sp>
        <p:nvSpPr>
          <p:cNvPr id="11" name="TextBox 10"/>
          <p:cNvSpPr txBox="1"/>
          <p:nvPr/>
        </p:nvSpPr>
        <p:spPr>
          <a:xfrm>
            <a:off x="3017520" y="2578608"/>
            <a:ext cx="4572000" cy="411480"/>
          </a:xfrm>
          <a:prstGeom prst="rect">
            <a:avLst/>
          </a:prstGeom>
          <a:noFill/>
        </p:spPr>
        <p:txBody>
          <a:bodyPr wrap="square">
            <a:spAutoFit/>
          </a:bodyPr>
          <a:lstStyle/>
          <a:p>
            <a:pPr algn="l">
              <a:defRPr sz="1600" b="1" i="0">
                <a:solidFill>
                  <a:srgbClr val="D4CFC4"/>
                </a:solidFill>
                <a:latin typeface="Courier New"/>
              </a:defRPr>
            </a:pPr>
            <a:r>
              <a:t>Husk</a:t>
            </a:r>
          </a:p>
        </p:txBody>
      </p:sp>
      <p:sp>
        <p:nvSpPr>
          <p:cNvPr id="12" name="TextBox 11"/>
          <p:cNvSpPr txBox="1"/>
          <p:nvPr/>
        </p:nvSpPr>
        <p:spPr>
          <a:xfrm>
            <a:off x="3017520" y="2971800"/>
            <a:ext cx="7315200" cy="365760"/>
          </a:xfrm>
          <a:prstGeom prst="rect">
            <a:avLst/>
          </a:prstGeom>
          <a:noFill/>
        </p:spPr>
        <p:txBody>
          <a:bodyPr wrap="square">
            <a:spAutoFit/>
          </a:bodyPr>
          <a:lstStyle/>
          <a:p>
            <a:pPr algn="l">
              <a:defRPr sz="1100" b="0" i="0">
                <a:solidFill>
                  <a:srgbClr val="A89F91"/>
                </a:solidFill>
                <a:latin typeface="Courier New"/>
              </a:defRPr>
            </a:pPr>
            <a:r>
              <a:t>Lazarides Gallery, Londres — première expo solo majeure</a:t>
            </a:r>
          </a:p>
        </p:txBody>
      </p:sp>
      <p:sp>
        <p:nvSpPr>
          <p:cNvPr id="13" name="Diamond 12"/>
          <p:cNvSpPr/>
          <p:nvPr/>
        </p:nvSpPr>
        <p:spPr>
          <a:xfrm>
            <a:off x="1234440" y="3566160"/>
            <a:ext cx="152400" cy="152400"/>
          </a:xfrm>
          <a:prstGeom prst="diamond">
            <a:avLst/>
          </a:prstGeom>
          <a:solidFill>
            <a:srgbClr val="8B45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28800" y="3429000"/>
            <a:ext cx="1371600" cy="365760"/>
          </a:xfrm>
          <a:prstGeom prst="rect">
            <a:avLst/>
          </a:prstGeom>
          <a:noFill/>
        </p:spPr>
        <p:txBody>
          <a:bodyPr wrap="square">
            <a:spAutoFit/>
          </a:bodyPr>
          <a:lstStyle/>
          <a:p>
            <a:pPr algn="l">
              <a:defRPr sz="1000" b="0" i="0">
                <a:solidFill>
                  <a:srgbClr val="8B4513"/>
                </a:solidFill>
                <a:latin typeface="Courier New"/>
              </a:defRPr>
            </a:pPr>
            <a:r>
              <a:t>2014</a:t>
            </a:r>
          </a:p>
        </p:txBody>
      </p:sp>
      <p:sp>
        <p:nvSpPr>
          <p:cNvPr id="15" name="TextBox 14"/>
          <p:cNvSpPr txBox="1"/>
          <p:nvPr/>
        </p:nvSpPr>
        <p:spPr>
          <a:xfrm>
            <a:off x="3017520" y="3401568"/>
            <a:ext cx="4572000" cy="411480"/>
          </a:xfrm>
          <a:prstGeom prst="rect">
            <a:avLst/>
          </a:prstGeom>
          <a:noFill/>
        </p:spPr>
        <p:txBody>
          <a:bodyPr wrap="square">
            <a:spAutoFit/>
          </a:bodyPr>
          <a:lstStyle/>
          <a:p>
            <a:pPr algn="l">
              <a:defRPr sz="1600" b="1" i="0">
                <a:solidFill>
                  <a:srgbClr val="D4CFC4"/>
                </a:solidFill>
                <a:latin typeface="Courier New"/>
              </a:defRPr>
            </a:pPr>
            <a:r>
              <a:t>Vestiges</a:t>
            </a:r>
          </a:p>
        </p:txBody>
      </p:sp>
      <p:sp>
        <p:nvSpPr>
          <p:cNvPr id="16" name="TextBox 15"/>
          <p:cNvSpPr txBox="1"/>
          <p:nvPr/>
        </p:nvSpPr>
        <p:spPr>
          <a:xfrm>
            <a:off x="3017520" y="3794759"/>
            <a:ext cx="7315200" cy="365760"/>
          </a:xfrm>
          <a:prstGeom prst="rect">
            <a:avLst/>
          </a:prstGeom>
          <a:noFill/>
        </p:spPr>
        <p:txBody>
          <a:bodyPr wrap="square">
            <a:spAutoFit/>
          </a:bodyPr>
          <a:lstStyle/>
          <a:p>
            <a:pPr algn="l">
              <a:defRPr sz="1100" b="0" i="0">
                <a:solidFill>
                  <a:srgbClr val="A89F91"/>
                </a:solidFill>
                <a:latin typeface="Courier New"/>
              </a:defRPr>
            </a:pPr>
            <a:r>
              <a:t>Musée EDP, Lisbonne — rétrospective institutionnelle</a:t>
            </a:r>
          </a:p>
        </p:txBody>
      </p:sp>
      <p:sp>
        <p:nvSpPr>
          <p:cNvPr id="17" name="Diamond 16"/>
          <p:cNvSpPr/>
          <p:nvPr/>
        </p:nvSpPr>
        <p:spPr>
          <a:xfrm>
            <a:off x="1234440" y="4389120"/>
            <a:ext cx="152400" cy="152400"/>
          </a:xfrm>
          <a:prstGeom prst="diamond">
            <a:avLst/>
          </a:prstGeom>
          <a:solidFill>
            <a:srgbClr val="8B45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28800" y="4251960"/>
            <a:ext cx="1371600" cy="365760"/>
          </a:xfrm>
          <a:prstGeom prst="rect">
            <a:avLst/>
          </a:prstGeom>
          <a:noFill/>
        </p:spPr>
        <p:txBody>
          <a:bodyPr wrap="square">
            <a:spAutoFit/>
          </a:bodyPr>
          <a:lstStyle/>
          <a:p>
            <a:pPr algn="l">
              <a:defRPr sz="1000" b="0" i="0">
                <a:solidFill>
                  <a:srgbClr val="8B4513"/>
                </a:solidFill>
                <a:latin typeface="Courier New"/>
              </a:defRPr>
            </a:pPr>
            <a:r>
              <a:t>2016</a:t>
            </a:r>
          </a:p>
        </p:txBody>
      </p:sp>
      <p:sp>
        <p:nvSpPr>
          <p:cNvPr id="19" name="TextBox 18"/>
          <p:cNvSpPr txBox="1"/>
          <p:nvPr/>
        </p:nvSpPr>
        <p:spPr>
          <a:xfrm>
            <a:off x="3017520" y="4224528"/>
            <a:ext cx="4572000" cy="411480"/>
          </a:xfrm>
          <a:prstGeom prst="rect">
            <a:avLst/>
          </a:prstGeom>
          <a:noFill/>
        </p:spPr>
        <p:txBody>
          <a:bodyPr wrap="square">
            <a:spAutoFit/>
          </a:bodyPr>
          <a:lstStyle/>
          <a:p>
            <a:pPr algn="l">
              <a:defRPr sz="1600" b="1" i="0">
                <a:solidFill>
                  <a:srgbClr val="D4CFC4"/>
                </a:solidFill>
                <a:latin typeface="Courier New"/>
              </a:defRPr>
            </a:pPr>
            <a:r>
              <a:t>Annihilation</a:t>
            </a:r>
          </a:p>
        </p:txBody>
      </p:sp>
      <p:sp>
        <p:nvSpPr>
          <p:cNvPr id="20" name="TextBox 19"/>
          <p:cNvSpPr txBox="1"/>
          <p:nvPr/>
        </p:nvSpPr>
        <p:spPr>
          <a:xfrm>
            <a:off x="3017520" y="4617720"/>
            <a:ext cx="7315200" cy="365760"/>
          </a:xfrm>
          <a:prstGeom prst="rect">
            <a:avLst/>
          </a:prstGeom>
          <a:noFill/>
        </p:spPr>
        <p:txBody>
          <a:bodyPr wrap="square">
            <a:spAutoFit/>
          </a:bodyPr>
          <a:lstStyle/>
          <a:p>
            <a:pPr algn="l">
              <a:defRPr sz="1100" b="0" i="0">
                <a:solidFill>
                  <a:srgbClr val="A89F91"/>
                </a:solidFill>
                <a:latin typeface="Courier New"/>
              </a:defRPr>
            </a:pPr>
            <a:r>
              <a:t>Palais de Tokyo, Paris</a:t>
            </a:r>
          </a:p>
        </p:txBody>
      </p:sp>
      <p:sp>
        <p:nvSpPr>
          <p:cNvPr id="21" name="Diamond 20"/>
          <p:cNvSpPr/>
          <p:nvPr/>
        </p:nvSpPr>
        <p:spPr>
          <a:xfrm>
            <a:off x="1234440" y="5212080"/>
            <a:ext cx="152400" cy="152400"/>
          </a:xfrm>
          <a:prstGeom prst="diamond">
            <a:avLst/>
          </a:prstGeom>
          <a:solidFill>
            <a:srgbClr val="8B45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0" y="5074920"/>
            <a:ext cx="1371600" cy="365760"/>
          </a:xfrm>
          <a:prstGeom prst="rect">
            <a:avLst/>
          </a:prstGeom>
          <a:noFill/>
        </p:spPr>
        <p:txBody>
          <a:bodyPr wrap="square">
            <a:spAutoFit/>
          </a:bodyPr>
          <a:lstStyle/>
          <a:p>
            <a:pPr algn="l">
              <a:defRPr sz="1000" b="0" i="0">
                <a:solidFill>
                  <a:srgbClr val="8B4513"/>
                </a:solidFill>
                <a:latin typeface="Courier New"/>
              </a:defRPr>
            </a:pPr>
            <a:r>
              <a:t>2019</a:t>
            </a:r>
          </a:p>
        </p:txBody>
      </p:sp>
      <p:sp>
        <p:nvSpPr>
          <p:cNvPr id="23" name="TextBox 22"/>
          <p:cNvSpPr txBox="1"/>
          <p:nvPr/>
        </p:nvSpPr>
        <p:spPr>
          <a:xfrm>
            <a:off x="3017520" y="5047488"/>
            <a:ext cx="4572000" cy="411480"/>
          </a:xfrm>
          <a:prstGeom prst="rect">
            <a:avLst/>
          </a:prstGeom>
          <a:noFill/>
        </p:spPr>
        <p:txBody>
          <a:bodyPr wrap="square">
            <a:spAutoFit/>
          </a:bodyPr>
          <a:lstStyle/>
          <a:p>
            <a:pPr algn="l">
              <a:defRPr sz="1600" b="1" i="0">
                <a:solidFill>
                  <a:srgbClr val="D4CFC4"/>
                </a:solidFill>
                <a:latin typeface="Courier New"/>
              </a:defRPr>
            </a:pPr>
            <a:r>
              <a:t>Metamorphosis</a:t>
            </a:r>
          </a:p>
        </p:txBody>
      </p:sp>
      <p:sp>
        <p:nvSpPr>
          <p:cNvPr id="24" name="TextBox 23"/>
          <p:cNvSpPr txBox="1"/>
          <p:nvPr/>
        </p:nvSpPr>
        <p:spPr>
          <a:xfrm>
            <a:off x="3017520" y="5440680"/>
            <a:ext cx="7315200" cy="365760"/>
          </a:xfrm>
          <a:prstGeom prst="rect">
            <a:avLst/>
          </a:prstGeom>
          <a:noFill/>
        </p:spPr>
        <p:txBody>
          <a:bodyPr wrap="square">
            <a:spAutoFit/>
          </a:bodyPr>
          <a:lstStyle/>
          <a:p>
            <a:pPr algn="l">
              <a:defRPr sz="1100" b="0" i="0">
                <a:solidFill>
                  <a:srgbClr val="A89F91"/>
                </a:solidFill>
                <a:latin typeface="Courier New"/>
              </a:defRPr>
            </a:pPr>
            <a:r>
              <a:t>MAAT, Lisbonne — exploration multimédia</a:t>
            </a:r>
          </a:p>
        </p:txBody>
      </p:sp>
      <p:sp>
        <p:nvSpPr>
          <p:cNvPr id="25" name="Diamond 24"/>
          <p:cNvSpPr/>
          <p:nvPr/>
        </p:nvSpPr>
        <p:spPr>
          <a:xfrm>
            <a:off x="1234440" y="6035040"/>
            <a:ext cx="152400" cy="152400"/>
          </a:xfrm>
          <a:prstGeom prst="diamond">
            <a:avLst/>
          </a:prstGeom>
          <a:solidFill>
            <a:srgbClr val="8B45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828800" y="5897880"/>
            <a:ext cx="1371600" cy="365760"/>
          </a:xfrm>
          <a:prstGeom prst="rect">
            <a:avLst/>
          </a:prstGeom>
          <a:noFill/>
        </p:spPr>
        <p:txBody>
          <a:bodyPr wrap="square">
            <a:spAutoFit/>
          </a:bodyPr>
          <a:lstStyle/>
          <a:p>
            <a:pPr algn="l">
              <a:defRPr sz="1000" b="0" i="0">
                <a:solidFill>
                  <a:srgbClr val="8B4513"/>
                </a:solidFill>
                <a:latin typeface="Courier New"/>
              </a:defRPr>
            </a:pPr>
            <a:r>
              <a:t>2022</a:t>
            </a:r>
          </a:p>
        </p:txBody>
      </p:sp>
      <p:sp>
        <p:nvSpPr>
          <p:cNvPr id="27" name="TextBox 26"/>
          <p:cNvSpPr txBox="1"/>
          <p:nvPr/>
        </p:nvSpPr>
        <p:spPr>
          <a:xfrm>
            <a:off x="3017520" y="5870448"/>
            <a:ext cx="4572000" cy="411480"/>
          </a:xfrm>
          <a:prstGeom prst="rect">
            <a:avLst/>
          </a:prstGeom>
          <a:noFill/>
        </p:spPr>
        <p:txBody>
          <a:bodyPr wrap="square">
            <a:spAutoFit/>
          </a:bodyPr>
          <a:lstStyle/>
          <a:p>
            <a:pPr algn="l">
              <a:defRPr sz="1600" b="1" i="0">
                <a:solidFill>
                  <a:srgbClr val="D4CFC4"/>
                </a:solidFill>
                <a:latin typeface="Courier New"/>
              </a:defRPr>
            </a:pPr>
            <a:r>
              <a:t>Imprint</a:t>
            </a:r>
          </a:p>
        </p:txBody>
      </p:sp>
      <p:sp>
        <p:nvSpPr>
          <p:cNvPr id="28" name="TextBox 27"/>
          <p:cNvSpPr txBox="1"/>
          <p:nvPr/>
        </p:nvSpPr>
        <p:spPr>
          <a:xfrm>
            <a:off x="3017520" y="6263640"/>
            <a:ext cx="7315200" cy="365760"/>
          </a:xfrm>
          <a:prstGeom prst="rect">
            <a:avLst/>
          </a:prstGeom>
          <a:noFill/>
        </p:spPr>
        <p:txBody>
          <a:bodyPr wrap="square">
            <a:spAutoFit/>
          </a:bodyPr>
          <a:lstStyle/>
          <a:p>
            <a:pPr algn="l">
              <a:defRPr sz="1100" b="0" i="0">
                <a:solidFill>
                  <a:srgbClr val="A89F91"/>
                </a:solidFill>
                <a:latin typeface="Courier New"/>
              </a:defRPr>
            </a:pPr>
            <a:r>
              <a:t>Hong Kong Contemporary Art Foundation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10D"/>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45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914400"/>
            <a:ext cx="9144000" cy="548640"/>
          </a:xfrm>
          <a:prstGeom prst="rect">
            <a:avLst/>
          </a:prstGeom>
          <a:noFill/>
        </p:spPr>
        <p:txBody>
          <a:bodyPr wrap="square">
            <a:spAutoFit/>
          </a:bodyPr>
          <a:lstStyle/>
          <a:p>
            <a:pPr algn="ctr">
              <a:defRPr sz="1200" b="0" i="0">
                <a:solidFill>
                  <a:srgbClr val="8B4513"/>
                </a:solidFill>
                <a:latin typeface="Courier New"/>
              </a:defRPr>
            </a:pPr>
            <a:r>
              <a:t>EN RÉSUMÉ</a:t>
            </a:r>
          </a:p>
        </p:txBody>
      </p:sp>
      <p:sp>
        <p:nvSpPr>
          <p:cNvPr id="4" name="TextBox 3"/>
          <p:cNvSpPr txBox="1"/>
          <p:nvPr/>
        </p:nvSpPr>
        <p:spPr>
          <a:xfrm>
            <a:off x="1371600" y="1463040"/>
            <a:ext cx="9144000" cy="1371600"/>
          </a:xfrm>
          <a:prstGeom prst="rect">
            <a:avLst/>
          </a:prstGeom>
          <a:noFill/>
        </p:spPr>
        <p:txBody>
          <a:bodyPr wrap="square">
            <a:spAutoFit/>
          </a:bodyPr>
          <a:lstStyle/>
          <a:p>
            <a:pPr algn="ctr">
              <a:defRPr sz="5200" b="1" i="0">
                <a:solidFill>
                  <a:srgbClr val="D4CFC4"/>
                </a:solidFill>
                <a:latin typeface="Courier New"/>
              </a:defRPr>
            </a:pPr>
            <a:r>
              <a:t>DÉTRUIRE</a:t>
            </a:r>
            <a:br/>
            <a:r>
              <a:t>POUR RÉVÉLER</a:t>
            </a:r>
          </a:p>
        </p:txBody>
      </p:sp>
      <p:sp>
        <p:nvSpPr>
          <p:cNvPr id="5" name="TextBox 4"/>
          <p:cNvSpPr txBox="1"/>
          <p:nvPr/>
        </p:nvSpPr>
        <p:spPr>
          <a:xfrm>
            <a:off x="1828800" y="3474720"/>
            <a:ext cx="8229600" cy="1828800"/>
          </a:xfrm>
          <a:prstGeom prst="rect">
            <a:avLst/>
          </a:prstGeom>
          <a:noFill/>
        </p:spPr>
        <p:txBody>
          <a:bodyPr wrap="square">
            <a:spAutoFit/>
          </a:bodyPr>
          <a:lstStyle/>
          <a:p>
            <a:pPr algn="ctr">
              <a:defRPr sz="1400" b="0" i="0">
                <a:solidFill>
                  <a:srgbClr val="A89F91"/>
                </a:solidFill>
                <a:latin typeface="Courier New"/>
              </a:defRPr>
            </a:pPr>
            <a:r>
              <a:t>VHILS redéfinit les frontières du street art en transformant la destruction en acte créatif. Ses œuvres sont des palimpsestes urbains qui questionnent notre rapport à la ville, à la mémoire collective et à l'identité.</a:t>
            </a:r>
            <a:br/>
            <a:br/>
            <a:r>
              <a:t>Chaque mur qu'il touche devient un témoignage vivant de notre époque.</a:t>
            </a:r>
          </a:p>
        </p:txBody>
      </p:sp>
      <p:sp>
        <p:nvSpPr>
          <p:cNvPr id="6" name="TextBox 5"/>
          <p:cNvSpPr txBox="1"/>
          <p:nvPr/>
        </p:nvSpPr>
        <p:spPr>
          <a:xfrm>
            <a:off x="1828800" y="5760720"/>
            <a:ext cx="8229600" cy="457200"/>
          </a:xfrm>
          <a:prstGeom prst="rect">
            <a:avLst/>
          </a:prstGeom>
          <a:noFill/>
        </p:spPr>
        <p:txBody>
          <a:bodyPr wrap="square">
            <a:spAutoFit/>
          </a:bodyPr>
          <a:lstStyle/>
          <a:p>
            <a:pPr algn="ctr">
              <a:defRPr sz="1100" b="0" i="0">
                <a:solidFill>
                  <a:srgbClr val="3D3428"/>
                </a:solidFill>
                <a:latin typeface="Courier New"/>
              </a:defRPr>
            </a:pPr>
            <a:r>
              <a:t>vfrfranco.com   •   @vfrfranco   •   Underdogs Gallery</a:t>
            </a:r>
          </a:p>
        </p:txBody>
      </p:sp>
      <p:sp>
        <p:nvSpPr>
          <p:cNvPr id="7" name="Rectangle 6"/>
          <p:cNvSpPr/>
          <p:nvPr/>
        </p:nvSpPr>
        <p:spPr>
          <a:xfrm>
            <a:off x="0" y="6784848"/>
            <a:ext cx="12191695" cy="73152"/>
          </a:xfrm>
          <a:prstGeom prst="rect">
            <a:avLst/>
          </a:prstGeom>
          <a:solidFill>
            <a:srgbClr val="8B45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